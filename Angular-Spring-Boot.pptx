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media/image10.svg" ContentType="image/svg+xml"/>
  <Override PartName="/ppt/media/image11.svg" ContentType="image/svg+xml"/>
  <Override PartName="/ppt/media/image12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4630400" cy="8229600"/>
  <p:notesSz cx="8229600" cy="14630400"/>
  <p:embeddedFontLst>
    <p:embeddedFont>
      <p:font typeface="Inter" panose="02000503000000020004" pitchFamily="34" charset="0"/>
      <p:bold r:id="rId18"/>
    </p:embeddedFont>
    <p:embeddedFont>
      <p:font typeface="Inter" panose="02000503000000020004" pitchFamily="34" charset="-122"/>
      <p:bold r:id="rId19"/>
    </p:embeddedFont>
    <p:embeddedFont>
      <p:font typeface="Inter" panose="02000503000000020004" pitchFamily="34" charset="-120"/>
      <p:bold r:id="rId20"/>
    </p:embeddedFont>
    <p:embeddedFont>
      <p:font typeface="Calibri" panose="020F0502020204030204" charset="0"/>
      <p:regular r:id="rId21"/>
      <p:bold r:id="rId22"/>
      <p:italic r:id="rId23"/>
      <p:boldItalic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1" y="2051686"/>
            <a:ext cx="12618720" cy="3423284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1" y="5507356"/>
            <a:ext cx="12618720" cy="1800224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1920240"/>
            <a:ext cx="6452006" cy="54311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46874" y="1920240"/>
            <a:ext cx="6452006" cy="54311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5" cy="192024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0"/>
            <a:ext cx="7406640" cy="5848350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5" cy="4573906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5" cy="192024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219826" y="1184910"/>
            <a:ext cx="7406640" cy="5848350"/>
          </a:xfrm>
        </p:spPr>
        <p:txBody>
          <a:bodyPr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5" cy="4573906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07040" y="329566"/>
            <a:ext cx="3291840" cy="702183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520" y="329566"/>
            <a:ext cx="9684688" cy="702183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731520" y="329566"/>
            <a:ext cx="1316736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731520" y="1920240"/>
            <a:ext cx="13167360" cy="5431156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731520" y="7494270"/>
            <a:ext cx="3413760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680"/>
            </a:lvl1pPr>
          </a:lstStyle>
          <a:p>
            <a:pPr lvl="0"/>
            <a:endParaRPr lang="en-US"/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4998720" y="7494270"/>
            <a:ext cx="4632960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680"/>
            </a:lvl1pPr>
          </a:lstStyle>
          <a:p>
            <a:pPr lvl="0"/>
            <a:endParaRPr lang="en-US"/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10485120" y="7494270"/>
            <a:ext cx="3413760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680"/>
            </a:lvl1pPr>
          </a:lstStyle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marL="0" lvl="0" indent="0" algn="ctr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528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11480" lvl="0" indent="-41148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•"/>
        <a:defRPr sz="384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891540" lvl="1" indent="-34290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–"/>
        <a:defRPr sz="336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371600" lvl="2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•"/>
        <a:defRPr sz="288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920240" lvl="3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–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468880" lvl="4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3017520" lvl="5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566160" lvl="6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4114800" lvl="7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4663440" lvl="8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16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48640" lvl="1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097280" lvl="2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45920" lvl="3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194560" lvl="4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743200" lvl="5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3291840" lvl="6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840480" lvl="7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4389120" lvl="8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20.xml"/><Relationship Id="rId7" Type="http://schemas.openxmlformats.org/officeDocument/2006/relationships/image" Target="../media/image1.png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3" Type="http://schemas.openxmlformats.org/officeDocument/2006/relationships/tags" Target="../tags/tag10.xml"/><Relationship Id="rId27" Type="http://schemas.openxmlformats.org/officeDocument/2006/relationships/notesSlide" Target="../notesSlides/notesSlide3.xml"/><Relationship Id="rId26" Type="http://schemas.openxmlformats.org/officeDocument/2006/relationships/slideLayout" Target="../slideLayouts/slideLayout19.xml"/><Relationship Id="rId25" Type="http://schemas.openxmlformats.org/officeDocument/2006/relationships/tags" Target="../tags/tag27.xml"/><Relationship Id="rId24" Type="http://schemas.openxmlformats.org/officeDocument/2006/relationships/tags" Target="../tags/tag26.xml"/><Relationship Id="rId23" Type="http://schemas.openxmlformats.org/officeDocument/2006/relationships/image" Target="../media/image6.svg"/><Relationship Id="rId22" Type="http://schemas.openxmlformats.org/officeDocument/2006/relationships/tags" Target="../tags/tag25.xml"/><Relationship Id="rId21" Type="http://schemas.openxmlformats.org/officeDocument/2006/relationships/tags" Target="../tags/tag24.xml"/><Relationship Id="rId20" Type="http://schemas.openxmlformats.org/officeDocument/2006/relationships/tags" Target="../tags/tag23.xml"/><Relationship Id="rId2" Type="http://schemas.openxmlformats.org/officeDocument/2006/relationships/tags" Target="../tags/tag9.xml"/><Relationship Id="rId19" Type="http://schemas.openxmlformats.org/officeDocument/2006/relationships/tags" Target="../tags/tag22.xml"/><Relationship Id="rId18" Type="http://schemas.openxmlformats.org/officeDocument/2006/relationships/tags" Target="../tags/tag21.xml"/><Relationship Id="rId17" Type="http://schemas.openxmlformats.org/officeDocument/2006/relationships/image" Target="../media/image5.svg"/><Relationship Id="rId16" Type="http://schemas.openxmlformats.org/officeDocument/2006/relationships/tags" Target="../tags/tag20.xml"/><Relationship Id="rId15" Type="http://schemas.openxmlformats.org/officeDocument/2006/relationships/tags" Target="../tags/tag19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image" Target="../media/image4.svg"/><Relationship Id="rId10" Type="http://schemas.openxmlformats.org/officeDocument/2006/relationships/tags" Target="../tags/tag15.xml"/><Relationship Id="rId1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2" Type="http://schemas.openxmlformats.org/officeDocument/2006/relationships/notesSlide" Target="../notesSlides/notesSlide4.xml"/><Relationship Id="rId31" Type="http://schemas.openxmlformats.org/officeDocument/2006/relationships/slideLayout" Target="../slideLayouts/slideLayout18.xml"/><Relationship Id="rId30" Type="http://schemas.openxmlformats.org/officeDocument/2006/relationships/tags" Target="../tags/tag57.xml"/><Relationship Id="rId3" Type="http://schemas.openxmlformats.org/officeDocument/2006/relationships/tags" Target="../tags/tag30.xml"/><Relationship Id="rId29" Type="http://schemas.openxmlformats.org/officeDocument/2006/relationships/tags" Target="../tags/tag56.xml"/><Relationship Id="rId28" Type="http://schemas.openxmlformats.org/officeDocument/2006/relationships/tags" Target="../tags/tag55.xml"/><Relationship Id="rId27" Type="http://schemas.openxmlformats.org/officeDocument/2006/relationships/tags" Target="../tags/tag54.xml"/><Relationship Id="rId26" Type="http://schemas.openxmlformats.org/officeDocument/2006/relationships/tags" Target="../tags/tag53.xml"/><Relationship Id="rId25" Type="http://schemas.openxmlformats.org/officeDocument/2006/relationships/tags" Target="../tags/tag52.xml"/><Relationship Id="rId24" Type="http://schemas.openxmlformats.org/officeDocument/2006/relationships/tags" Target="../tags/tag51.xml"/><Relationship Id="rId23" Type="http://schemas.openxmlformats.org/officeDocument/2006/relationships/tags" Target="../tags/tag50.xml"/><Relationship Id="rId22" Type="http://schemas.openxmlformats.org/officeDocument/2006/relationships/tags" Target="../tags/tag49.xml"/><Relationship Id="rId21" Type="http://schemas.openxmlformats.org/officeDocument/2006/relationships/tags" Target="../tags/tag48.xml"/><Relationship Id="rId20" Type="http://schemas.openxmlformats.org/officeDocument/2006/relationships/tags" Target="../tags/tag47.xml"/><Relationship Id="rId2" Type="http://schemas.openxmlformats.org/officeDocument/2006/relationships/tags" Target="../tags/tag29.xml"/><Relationship Id="rId19" Type="http://schemas.openxmlformats.org/officeDocument/2006/relationships/tags" Target="../tags/tag46.xml"/><Relationship Id="rId18" Type="http://schemas.openxmlformats.org/officeDocument/2006/relationships/tags" Target="../tags/tag45.xml"/><Relationship Id="rId17" Type="http://schemas.openxmlformats.org/officeDocument/2006/relationships/tags" Target="../tags/tag44.xml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tags" Target="../tags/tag28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7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6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image" Target="../media/image7.svg"/><Relationship Id="rId4" Type="http://schemas.openxmlformats.org/officeDocument/2006/relationships/image" Target="../media/image2.png"/><Relationship Id="rId39" Type="http://schemas.openxmlformats.org/officeDocument/2006/relationships/notesSlide" Target="../notesSlides/notesSlide7.xml"/><Relationship Id="rId38" Type="http://schemas.openxmlformats.org/officeDocument/2006/relationships/slideLayout" Target="../slideLayouts/slideLayout15.xml"/><Relationship Id="rId37" Type="http://schemas.openxmlformats.org/officeDocument/2006/relationships/tags" Target="../tags/tag96.xml"/><Relationship Id="rId36" Type="http://schemas.openxmlformats.org/officeDocument/2006/relationships/tags" Target="../tags/tag95.xml"/><Relationship Id="rId35" Type="http://schemas.openxmlformats.org/officeDocument/2006/relationships/image" Target="../media/image12.svg"/><Relationship Id="rId34" Type="http://schemas.openxmlformats.org/officeDocument/2006/relationships/tags" Target="../tags/tag94.xml"/><Relationship Id="rId33" Type="http://schemas.openxmlformats.org/officeDocument/2006/relationships/tags" Target="../tags/tag93.xml"/><Relationship Id="rId32" Type="http://schemas.openxmlformats.org/officeDocument/2006/relationships/tags" Target="../tags/tag92.xml"/><Relationship Id="rId31" Type="http://schemas.openxmlformats.org/officeDocument/2006/relationships/tags" Target="../tags/tag91.xml"/><Relationship Id="rId30" Type="http://schemas.openxmlformats.org/officeDocument/2006/relationships/tags" Target="../tags/tag90.xml"/><Relationship Id="rId3" Type="http://schemas.openxmlformats.org/officeDocument/2006/relationships/tags" Target="../tags/tag69.xml"/><Relationship Id="rId29" Type="http://schemas.openxmlformats.org/officeDocument/2006/relationships/image" Target="../media/image11.svg"/><Relationship Id="rId28" Type="http://schemas.openxmlformats.org/officeDocument/2006/relationships/tags" Target="../tags/tag89.xml"/><Relationship Id="rId27" Type="http://schemas.openxmlformats.org/officeDocument/2006/relationships/tags" Target="../tags/tag88.xml"/><Relationship Id="rId26" Type="http://schemas.openxmlformats.org/officeDocument/2006/relationships/tags" Target="../tags/tag87.xml"/><Relationship Id="rId25" Type="http://schemas.openxmlformats.org/officeDocument/2006/relationships/tags" Target="../tags/tag86.xml"/><Relationship Id="rId24" Type="http://schemas.openxmlformats.org/officeDocument/2006/relationships/tags" Target="../tags/tag85.xml"/><Relationship Id="rId23" Type="http://schemas.openxmlformats.org/officeDocument/2006/relationships/image" Target="../media/image10.svg"/><Relationship Id="rId22" Type="http://schemas.openxmlformats.org/officeDocument/2006/relationships/tags" Target="../tags/tag84.xml"/><Relationship Id="rId21" Type="http://schemas.openxmlformats.org/officeDocument/2006/relationships/tags" Target="../tags/tag83.xml"/><Relationship Id="rId20" Type="http://schemas.openxmlformats.org/officeDocument/2006/relationships/tags" Target="../tags/tag82.xml"/><Relationship Id="rId2" Type="http://schemas.openxmlformats.org/officeDocument/2006/relationships/tags" Target="../tags/tag68.xml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image" Target="../media/image9.svg"/><Relationship Id="rId16" Type="http://schemas.openxmlformats.org/officeDocument/2006/relationships/tags" Target="../tags/tag79.xml"/><Relationship Id="rId15" Type="http://schemas.openxmlformats.org/officeDocument/2006/relationships/tags" Target="../tags/tag78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image" Target="../media/image8.svg"/><Relationship Id="rId10" Type="http://schemas.openxmlformats.org/officeDocument/2006/relationships/tags" Target="../tags/tag74.xml"/><Relationship Id="rId1" Type="http://schemas.openxmlformats.org/officeDocument/2006/relationships/tags" Target="../tags/tag67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4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Relationship Id="rId3" Type="http://schemas.openxmlformats.org/officeDocument/2006/relationships/image" Target="../media/image14.svg"/><Relationship Id="rId2" Type="http://schemas.openxmlformats.org/officeDocument/2006/relationships/image" Target="../media/image2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4"/>
          <p:cNvSpPr/>
          <p:nvPr>
            <p:custDataLst>
              <p:tags r:id="rId1"/>
            </p:custDataLst>
          </p:nvPr>
        </p:nvSpPr>
        <p:spPr>
          <a:xfrm>
            <a:off x="775970" y="1069975"/>
            <a:ext cx="13345160" cy="6197600"/>
          </a:xfrm>
          <a:prstGeom prst="roundRect">
            <a:avLst>
              <a:gd name="adj" fmla="val 3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78900" y="2654697"/>
            <a:ext cx="747212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Hotel Management System</a:t>
            </a:r>
            <a:endParaRPr lang="en-US" sz="4450" b="1" dirty="0">
              <a:solidFill>
                <a:srgbClr val="000000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809048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A comprehensive full-stack application combining Angular frontend with Spring Boot microservices for seamless hotel operations management.</a:t>
            </a:r>
            <a:endParaRPr lang="en-US" sz="2400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876165" y="5782310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/>
              <a:t>By:Shubhranshu Satpathy </a:t>
            </a:r>
            <a:endParaRPr lang="en-US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4"/>
          <p:cNvSpPr/>
          <p:nvPr>
            <p:custDataLst>
              <p:tags r:id="rId1"/>
            </p:custDataLst>
          </p:nvPr>
        </p:nvSpPr>
        <p:spPr>
          <a:xfrm>
            <a:off x="665480" y="1891030"/>
            <a:ext cx="6304280" cy="2230755"/>
          </a:xfrm>
          <a:prstGeom prst="roundRect">
            <a:avLst>
              <a:gd name="adj" fmla="val 3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Shape 4"/>
          <p:cNvSpPr/>
          <p:nvPr>
            <p:custDataLst>
              <p:tags r:id="rId2"/>
            </p:custDataLst>
          </p:nvPr>
        </p:nvSpPr>
        <p:spPr>
          <a:xfrm>
            <a:off x="664845" y="4257040"/>
            <a:ext cx="6304280" cy="2230755"/>
          </a:xfrm>
          <a:prstGeom prst="roundRect">
            <a:avLst>
              <a:gd name="adj" fmla="val 3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73045" y="819626"/>
            <a:ext cx="9084231" cy="6548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Architecture </a:t>
            </a:r>
            <a:endParaRPr lang="en-US" sz="4100" b="1" dirty="0">
              <a:solidFill>
                <a:srgbClr val="000000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733425" y="2247900"/>
            <a:ext cx="3474134" cy="4342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Frontend Layer</a:t>
            </a:r>
            <a:endParaRPr lang="en-US" sz="2800" b="1" dirty="0">
              <a:solidFill>
                <a:srgbClr val="000000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733425" y="2914015"/>
            <a:ext cx="6236335" cy="1343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Built with Angular 21+, delivering responsive, role-based dashboards for administrators, managers, receptionists, and guests. Clean UI optimized for all devices.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733425" y="4356091"/>
            <a:ext cx="3474134" cy="4342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Backend Layer</a:t>
            </a:r>
            <a:endParaRPr lang="en-US" sz="2800" b="1" dirty="0">
              <a:solidFill>
                <a:srgbClr val="000000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733425" y="4888865"/>
            <a:ext cx="6236335" cy="161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Spring Boot microservices architecture with service discovery, centralized configuration, and event-driven communication via Kafka for scalable operations.It Also Include Authentication and Role Based Acces Managed by ApiGateway and Jwt Token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7945" y="1723390"/>
            <a:ext cx="6288405" cy="537591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94671" y="7130534"/>
            <a:ext cx="7009805" cy="3352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5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4547354" y="936982"/>
            <a:ext cx="5536763" cy="6093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5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Role-Based Access</a:t>
            </a:r>
            <a:endParaRPr lang="en-US" sz="4000" b="1" dirty="0">
              <a:solidFill>
                <a:srgbClr val="000000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46929" y="2193846"/>
            <a:ext cx="12336423" cy="3119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Tailored interfaces and permissions for every user type, ensuring efficient workflows and data security across the organization.</a:t>
            </a:r>
            <a:endParaRPr lang="en-US" sz="2000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7" name="Shape 4"/>
          <p:cNvSpPr/>
          <p:nvPr>
            <p:custDataLst>
              <p:tags r:id="rId1"/>
            </p:custDataLst>
          </p:nvPr>
        </p:nvSpPr>
        <p:spPr>
          <a:xfrm>
            <a:off x="1146929" y="2725102"/>
            <a:ext cx="6070640" cy="2230993"/>
          </a:xfrm>
          <a:prstGeom prst="roundRect">
            <a:avLst>
              <a:gd name="adj" fmla="val 3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Shape 5"/>
          <p:cNvSpPr/>
          <p:nvPr>
            <p:custDataLst>
              <p:tags r:id="rId2"/>
            </p:custDataLst>
          </p:nvPr>
        </p:nvSpPr>
        <p:spPr>
          <a:xfrm>
            <a:off x="1349573" y="2927747"/>
            <a:ext cx="585073" cy="585073"/>
          </a:xfrm>
          <a:prstGeom prst="roundRect">
            <a:avLst>
              <a:gd name="adj" fmla="val 15627256"/>
            </a:avLst>
          </a:prstGeom>
          <a:solidFill>
            <a:srgbClr val="4950BC"/>
          </a:solidFill>
        </p:spPr>
      </p:sp>
      <p:pic>
        <p:nvPicPr>
          <p:cNvPr id="9" name="Image 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10427" y="3088600"/>
            <a:ext cx="263247" cy="263247"/>
          </a:xfrm>
          <a:prstGeom prst="rect">
            <a:avLst/>
          </a:prstGeom>
        </p:spPr>
      </p:pic>
      <p:sp>
        <p:nvSpPr>
          <p:cNvPr id="10" name="Text 6"/>
          <p:cNvSpPr/>
          <p:nvPr>
            <p:custDataLst>
              <p:tags r:id="rId6"/>
            </p:custDataLst>
          </p:nvPr>
        </p:nvSpPr>
        <p:spPr>
          <a:xfrm>
            <a:off x="1349573" y="3707844"/>
            <a:ext cx="2437924" cy="304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Admin Dashboard</a:t>
            </a:r>
            <a:endParaRPr lang="en-US" sz="2400" b="1" dirty="0">
              <a:solidFill>
                <a:srgbClr val="272525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11" name="Text 7"/>
          <p:cNvSpPr/>
          <p:nvPr>
            <p:custDataLst>
              <p:tags r:id="rId7"/>
            </p:custDataLst>
          </p:nvPr>
        </p:nvSpPr>
        <p:spPr>
          <a:xfrm>
            <a:off x="1349573" y="4129564"/>
            <a:ext cx="5665351" cy="62388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Complete oversight of hotel operations and system configuration. Register managers and monitor all activities.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12" name="Shape 8"/>
          <p:cNvSpPr/>
          <p:nvPr>
            <p:custDataLst>
              <p:tags r:id="rId8"/>
            </p:custDataLst>
          </p:nvPr>
        </p:nvSpPr>
        <p:spPr>
          <a:xfrm>
            <a:off x="7412593" y="2725102"/>
            <a:ext cx="6070759" cy="2230993"/>
          </a:xfrm>
          <a:prstGeom prst="roundRect">
            <a:avLst>
              <a:gd name="adj" fmla="val 3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Shape 9"/>
          <p:cNvSpPr/>
          <p:nvPr>
            <p:custDataLst>
              <p:tags r:id="rId9"/>
            </p:custDataLst>
          </p:nvPr>
        </p:nvSpPr>
        <p:spPr>
          <a:xfrm>
            <a:off x="7615238" y="2927747"/>
            <a:ext cx="585073" cy="585073"/>
          </a:xfrm>
          <a:prstGeom prst="roundRect">
            <a:avLst>
              <a:gd name="adj" fmla="val 15627256"/>
            </a:avLst>
          </a:prstGeom>
          <a:solidFill>
            <a:srgbClr val="4950BC"/>
          </a:solidFill>
        </p:spPr>
      </p:sp>
      <p:pic>
        <p:nvPicPr>
          <p:cNvPr id="14" name="Image 2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76091" y="3088600"/>
            <a:ext cx="263247" cy="263247"/>
          </a:xfrm>
          <a:prstGeom prst="rect">
            <a:avLst/>
          </a:prstGeom>
        </p:spPr>
      </p:pic>
      <p:sp>
        <p:nvSpPr>
          <p:cNvPr id="15" name="Text 10"/>
          <p:cNvSpPr/>
          <p:nvPr>
            <p:custDataLst>
              <p:tags r:id="rId12"/>
            </p:custDataLst>
          </p:nvPr>
        </p:nvSpPr>
        <p:spPr>
          <a:xfrm>
            <a:off x="7615238" y="3707844"/>
            <a:ext cx="2437924" cy="304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Manager Portal</a:t>
            </a:r>
            <a:endParaRPr lang="en-US" sz="2400" b="1" dirty="0">
              <a:solidFill>
                <a:srgbClr val="272525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16" name="Text 11"/>
          <p:cNvSpPr/>
          <p:nvPr>
            <p:custDataLst>
              <p:tags r:id="rId13"/>
            </p:custDataLst>
          </p:nvPr>
        </p:nvSpPr>
        <p:spPr>
          <a:xfrm>
            <a:off x="7615238" y="4129564"/>
            <a:ext cx="5665470" cy="62388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Manage hotel details, room inventory, staff registration, and view booking analytics for their properties.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17" name="Shape 12"/>
          <p:cNvSpPr/>
          <p:nvPr>
            <p:custDataLst>
              <p:tags r:id="rId14"/>
            </p:custDataLst>
          </p:nvPr>
        </p:nvSpPr>
        <p:spPr>
          <a:xfrm>
            <a:off x="1146929" y="5151120"/>
            <a:ext cx="6070640" cy="2230993"/>
          </a:xfrm>
          <a:prstGeom prst="roundRect">
            <a:avLst>
              <a:gd name="adj" fmla="val 3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8" name="Shape 13"/>
          <p:cNvSpPr/>
          <p:nvPr>
            <p:custDataLst>
              <p:tags r:id="rId15"/>
            </p:custDataLst>
          </p:nvPr>
        </p:nvSpPr>
        <p:spPr>
          <a:xfrm>
            <a:off x="1349573" y="5353764"/>
            <a:ext cx="585073" cy="585073"/>
          </a:xfrm>
          <a:prstGeom prst="roundRect">
            <a:avLst>
              <a:gd name="adj" fmla="val 15627256"/>
            </a:avLst>
          </a:prstGeom>
          <a:solidFill>
            <a:srgbClr val="4950BC"/>
          </a:solidFill>
        </p:spPr>
      </p:sp>
      <p:pic>
        <p:nvPicPr>
          <p:cNvPr id="19" name="Image 3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510427" y="5514618"/>
            <a:ext cx="263247" cy="263247"/>
          </a:xfrm>
          <a:prstGeom prst="rect">
            <a:avLst/>
          </a:prstGeom>
        </p:spPr>
      </p:pic>
      <p:sp>
        <p:nvSpPr>
          <p:cNvPr id="20" name="Text 14"/>
          <p:cNvSpPr/>
          <p:nvPr>
            <p:custDataLst>
              <p:tags r:id="rId18"/>
            </p:custDataLst>
          </p:nvPr>
        </p:nvSpPr>
        <p:spPr>
          <a:xfrm>
            <a:off x="1349573" y="6133862"/>
            <a:ext cx="2437924" cy="304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Reception Interface</a:t>
            </a:r>
            <a:endParaRPr lang="en-US" sz="2400" b="1" dirty="0">
              <a:solidFill>
                <a:srgbClr val="272525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21" name="Text 15"/>
          <p:cNvSpPr/>
          <p:nvPr>
            <p:custDataLst>
              <p:tags r:id="rId19"/>
            </p:custDataLst>
          </p:nvPr>
        </p:nvSpPr>
        <p:spPr>
          <a:xfrm>
            <a:off x="1349573" y="6555581"/>
            <a:ext cx="5665351" cy="62388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Handle check-ins, check-outs, guest services, and on-site bookings with streamlined workflows.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22" name="Shape 16"/>
          <p:cNvSpPr/>
          <p:nvPr>
            <p:custDataLst>
              <p:tags r:id="rId20"/>
            </p:custDataLst>
          </p:nvPr>
        </p:nvSpPr>
        <p:spPr>
          <a:xfrm>
            <a:off x="7412593" y="5151120"/>
            <a:ext cx="6070759" cy="2230993"/>
          </a:xfrm>
          <a:prstGeom prst="roundRect">
            <a:avLst>
              <a:gd name="adj" fmla="val 3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3" name="Shape 17"/>
          <p:cNvSpPr/>
          <p:nvPr>
            <p:custDataLst>
              <p:tags r:id="rId21"/>
            </p:custDataLst>
          </p:nvPr>
        </p:nvSpPr>
        <p:spPr>
          <a:xfrm>
            <a:off x="7615238" y="5353764"/>
            <a:ext cx="585073" cy="585073"/>
          </a:xfrm>
          <a:prstGeom prst="roundRect">
            <a:avLst>
              <a:gd name="adj" fmla="val 15627256"/>
            </a:avLst>
          </a:prstGeom>
          <a:solidFill>
            <a:srgbClr val="4950BC"/>
          </a:solidFill>
        </p:spPr>
      </p:sp>
      <p:pic>
        <p:nvPicPr>
          <p:cNvPr id="24" name="Image 4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776091" y="5514618"/>
            <a:ext cx="263247" cy="263247"/>
          </a:xfrm>
          <a:prstGeom prst="rect">
            <a:avLst/>
          </a:prstGeom>
        </p:spPr>
      </p:pic>
      <p:sp>
        <p:nvSpPr>
          <p:cNvPr id="25" name="Text 18"/>
          <p:cNvSpPr/>
          <p:nvPr>
            <p:custDataLst>
              <p:tags r:id="rId24"/>
            </p:custDataLst>
          </p:nvPr>
        </p:nvSpPr>
        <p:spPr>
          <a:xfrm>
            <a:off x="7615238" y="6133862"/>
            <a:ext cx="2437924" cy="304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Guest Dashboard</a:t>
            </a:r>
            <a:endParaRPr lang="en-US" sz="2400" b="1" dirty="0">
              <a:solidFill>
                <a:srgbClr val="272525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26" name="Text 19"/>
          <p:cNvSpPr/>
          <p:nvPr>
            <p:custDataLst>
              <p:tags r:id="rId25"/>
            </p:custDataLst>
          </p:nvPr>
        </p:nvSpPr>
        <p:spPr>
          <a:xfrm>
            <a:off x="7615238" y="6555581"/>
            <a:ext cx="5665470" cy="62388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Browse hotels, make reservations, manage bookings, and update profile information with ease.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4"/>
          <p:cNvSpPr/>
          <p:nvPr>
            <p:custDataLst>
              <p:tags r:id="rId1"/>
            </p:custDataLst>
          </p:nvPr>
        </p:nvSpPr>
        <p:spPr>
          <a:xfrm>
            <a:off x="7345680" y="6059805"/>
            <a:ext cx="6492240" cy="1831975"/>
          </a:xfrm>
          <a:prstGeom prst="roundRect">
            <a:avLst>
              <a:gd name="adj" fmla="val 3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31" name="Shape 4"/>
          <p:cNvSpPr/>
          <p:nvPr>
            <p:custDataLst>
              <p:tags r:id="rId2"/>
            </p:custDataLst>
          </p:nvPr>
        </p:nvSpPr>
        <p:spPr>
          <a:xfrm>
            <a:off x="709930" y="6059805"/>
            <a:ext cx="6492240" cy="1831975"/>
          </a:xfrm>
          <a:prstGeom prst="roundRect">
            <a:avLst>
              <a:gd name="adj" fmla="val 3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30" name="Shape 4"/>
          <p:cNvSpPr/>
          <p:nvPr>
            <p:custDataLst>
              <p:tags r:id="rId3"/>
            </p:custDataLst>
          </p:nvPr>
        </p:nvSpPr>
        <p:spPr>
          <a:xfrm>
            <a:off x="7345680" y="3949065"/>
            <a:ext cx="6492240" cy="1831975"/>
          </a:xfrm>
          <a:prstGeom prst="roundRect">
            <a:avLst>
              <a:gd name="adj" fmla="val 3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9" name="Shape 4"/>
          <p:cNvSpPr/>
          <p:nvPr>
            <p:custDataLst>
              <p:tags r:id="rId4"/>
            </p:custDataLst>
          </p:nvPr>
        </p:nvSpPr>
        <p:spPr>
          <a:xfrm>
            <a:off x="7345680" y="1720850"/>
            <a:ext cx="6492240" cy="1831975"/>
          </a:xfrm>
          <a:prstGeom prst="roundRect">
            <a:avLst>
              <a:gd name="adj" fmla="val 3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8" name="Shape 4"/>
          <p:cNvSpPr/>
          <p:nvPr>
            <p:custDataLst>
              <p:tags r:id="rId5"/>
            </p:custDataLst>
          </p:nvPr>
        </p:nvSpPr>
        <p:spPr>
          <a:xfrm>
            <a:off x="654685" y="3951605"/>
            <a:ext cx="6547485" cy="1875155"/>
          </a:xfrm>
          <a:prstGeom prst="roundRect">
            <a:avLst>
              <a:gd name="adj" fmla="val 3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p>
            <a:endParaRPr lang="en-US" sz="2000"/>
          </a:p>
        </p:txBody>
      </p:sp>
      <p:sp>
        <p:nvSpPr>
          <p:cNvPr id="27" name="Shape 4"/>
          <p:cNvSpPr/>
          <p:nvPr>
            <p:custDataLst>
              <p:tags r:id="rId6"/>
            </p:custDataLst>
          </p:nvPr>
        </p:nvSpPr>
        <p:spPr>
          <a:xfrm>
            <a:off x="654050" y="1783715"/>
            <a:ext cx="6547485" cy="1762760"/>
          </a:xfrm>
          <a:prstGeom prst="roundRect">
            <a:avLst>
              <a:gd name="adj" fmla="val 3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4377571" y="538758"/>
            <a:ext cx="5660112" cy="7074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Core Features</a:t>
            </a:r>
            <a:endParaRPr lang="en-US" sz="4800" b="1" dirty="0">
              <a:solidFill>
                <a:srgbClr val="000000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3" name="Text 1"/>
          <p:cNvSpPr/>
          <p:nvPr>
            <p:custDataLst>
              <p:tags r:id="rId7"/>
            </p:custDataLst>
          </p:nvPr>
        </p:nvSpPr>
        <p:spPr>
          <a:xfrm>
            <a:off x="792361" y="1782842"/>
            <a:ext cx="226338" cy="282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 Light" pitchFamily="34" charset="-122"/>
                <a:cs typeface="Calibri" panose="020F0502020204030204" charset="0"/>
              </a:rPr>
              <a:t>01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 Light" pitchFamily="34" charset="-122"/>
              <a:cs typeface="Calibri" panose="020F0502020204030204" charset="0"/>
            </a:endParaRPr>
          </a:p>
        </p:txBody>
      </p:sp>
      <p:sp>
        <p:nvSpPr>
          <p:cNvPr id="4" name="Shape 2"/>
          <p:cNvSpPr/>
          <p:nvPr>
            <p:custDataLst>
              <p:tags r:id="rId8"/>
            </p:custDataLst>
          </p:nvPr>
        </p:nvSpPr>
        <p:spPr>
          <a:xfrm>
            <a:off x="792361" y="2137053"/>
            <a:ext cx="6409611" cy="30480"/>
          </a:xfrm>
          <a:prstGeom prst="rect">
            <a:avLst/>
          </a:prstGeom>
          <a:solidFill>
            <a:srgbClr val="4950BC"/>
          </a:solidFill>
        </p:spPr>
      </p:sp>
      <p:sp>
        <p:nvSpPr>
          <p:cNvPr id="5" name="Text 3"/>
          <p:cNvSpPr/>
          <p:nvPr>
            <p:custDataLst>
              <p:tags r:id="rId9"/>
            </p:custDataLst>
          </p:nvPr>
        </p:nvSpPr>
        <p:spPr>
          <a:xfrm>
            <a:off x="792361" y="2311122"/>
            <a:ext cx="3096101" cy="3537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Secure Authentication</a:t>
            </a:r>
            <a:endParaRPr lang="en-US" sz="2400" b="1" dirty="0">
              <a:solidFill>
                <a:srgbClr val="272525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6" name="Text 4"/>
          <p:cNvSpPr/>
          <p:nvPr>
            <p:custDataLst>
              <p:tags r:id="rId10"/>
            </p:custDataLst>
          </p:nvPr>
        </p:nvSpPr>
        <p:spPr>
          <a:xfrm>
            <a:off x="792361" y="2800588"/>
            <a:ext cx="6409611" cy="7246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JWT-based login with password management and role assignment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7" name="Text 5"/>
          <p:cNvSpPr/>
          <p:nvPr>
            <p:custDataLst>
              <p:tags r:id="rId11"/>
            </p:custDataLst>
          </p:nvPr>
        </p:nvSpPr>
        <p:spPr>
          <a:xfrm>
            <a:off x="7428309" y="1782842"/>
            <a:ext cx="226338" cy="282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 Light" pitchFamily="34" charset="-122"/>
                <a:cs typeface="Calibri" panose="020F0502020204030204" charset="0"/>
              </a:rPr>
              <a:t>02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 Light" pitchFamily="34" charset="-122"/>
              <a:cs typeface="Calibri" panose="020F0502020204030204" charset="0"/>
            </a:endParaRPr>
          </a:p>
        </p:txBody>
      </p:sp>
      <p:sp>
        <p:nvSpPr>
          <p:cNvPr id="8" name="Shape 6"/>
          <p:cNvSpPr/>
          <p:nvPr>
            <p:custDataLst>
              <p:tags r:id="rId12"/>
            </p:custDataLst>
          </p:nvPr>
        </p:nvSpPr>
        <p:spPr>
          <a:xfrm>
            <a:off x="7428309" y="2137053"/>
            <a:ext cx="6409730" cy="30480"/>
          </a:xfrm>
          <a:prstGeom prst="rect">
            <a:avLst/>
          </a:prstGeom>
          <a:solidFill>
            <a:srgbClr val="4950BC"/>
          </a:solidFill>
        </p:spPr>
      </p:sp>
      <p:sp>
        <p:nvSpPr>
          <p:cNvPr id="9" name="Text 7"/>
          <p:cNvSpPr/>
          <p:nvPr>
            <p:custDataLst>
              <p:tags r:id="rId13"/>
            </p:custDataLst>
          </p:nvPr>
        </p:nvSpPr>
        <p:spPr>
          <a:xfrm>
            <a:off x="7428309" y="2311122"/>
            <a:ext cx="2829997" cy="3537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Hotel Discovery</a:t>
            </a:r>
            <a:endParaRPr lang="en-US" sz="2400" b="1" dirty="0">
              <a:solidFill>
                <a:srgbClr val="272525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10" name="Text 8"/>
          <p:cNvSpPr/>
          <p:nvPr>
            <p:custDataLst>
              <p:tags r:id="rId14"/>
            </p:custDataLst>
          </p:nvPr>
        </p:nvSpPr>
        <p:spPr>
          <a:xfrm>
            <a:off x="7428309" y="2800588"/>
            <a:ext cx="6409730" cy="7246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Browse listings with advanced search by criteria and availability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11" name="Text 9"/>
          <p:cNvSpPr/>
          <p:nvPr>
            <p:custDataLst>
              <p:tags r:id="rId15"/>
            </p:custDataLst>
          </p:nvPr>
        </p:nvSpPr>
        <p:spPr>
          <a:xfrm>
            <a:off x="792361" y="3921323"/>
            <a:ext cx="226338" cy="282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 Light" pitchFamily="34" charset="-122"/>
                <a:cs typeface="Calibri" panose="020F0502020204030204" charset="0"/>
              </a:rPr>
              <a:t>03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 Light" pitchFamily="34" charset="-122"/>
              <a:cs typeface="Calibri" panose="020F0502020204030204" charset="0"/>
            </a:endParaRPr>
          </a:p>
        </p:txBody>
      </p:sp>
      <p:sp>
        <p:nvSpPr>
          <p:cNvPr id="12" name="Shape 10"/>
          <p:cNvSpPr/>
          <p:nvPr>
            <p:custDataLst>
              <p:tags r:id="rId16"/>
            </p:custDataLst>
          </p:nvPr>
        </p:nvSpPr>
        <p:spPr>
          <a:xfrm>
            <a:off x="792361" y="4275534"/>
            <a:ext cx="6409611" cy="30480"/>
          </a:xfrm>
          <a:prstGeom prst="rect">
            <a:avLst/>
          </a:prstGeom>
          <a:solidFill>
            <a:srgbClr val="4950BC"/>
          </a:solidFill>
        </p:spPr>
      </p:sp>
      <p:sp>
        <p:nvSpPr>
          <p:cNvPr id="13" name="Text 11"/>
          <p:cNvSpPr/>
          <p:nvPr>
            <p:custDataLst>
              <p:tags r:id="rId17"/>
            </p:custDataLst>
          </p:nvPr>
        </p:nvSpPr>
        <p:spPr>
          <a:xfrm>
            <a:off x="792361" y="4449604"/>
            <a:ext cx="2829997" cy="3537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Room Management</a:t>
            </a:r>
            <a:endParaRPr lang="en-US" sz="2400" b="1" dirty="0">
              <a:solidFill>
                <a:srgbClr val="272525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14" name="Text 12"/>
          <p:cNvSpPr/>
          <p:nvPr>
            <p:custDataLst>
              <p:tags r:id="rId18"/>
            </p:custDataLst>
          </p:nvPr>
        </p:nvSpPr>
        <p:spPr>
          <a:xfrm>
            <a:off x="792361" y="4939070"/>
            <a:ext cx="6409611" cy="7246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Track inventory, availability, and detailed room specifications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15" name="Text 13"/>
          <p:cNvSpPr/>
          <p:nvPr>
            <p:custDataLst>
              <p:tags r:id="rId19"/>
            </p:custDataLst>
          </p:nvPr>
        </p:nvSpPr>
        <p:spPr>
          <a:xfrm>
            <a:off x="7428309" y="3921323"/>
            <a:ext cx="226338" cy="282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 Light" pitchFamily="34" charset="-122"/>
                <a:cs typeface="Calibri" panose="020F0502020204030204" charset="0"/>
              </a:rPr>
              <a:t>04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 Light" pitchFamily="34" charset="-122"/>
              <a:cs typeface="Calibri" panose="020F0502020204030204" charset="0"/>
            </a:endParaRPr>
          </a:p>
        </p:txBody>
      </p:sp>
      <p:sp>
        <p:nvSpPr>
          <p:cNvPr id="16" name="Shape 14"/>
          <p:cNvSpPr/>
          <p:nvPr>
            <p:custDataLst>
              <p:tags r:id="rId20"/>
            </p:custDataLst>
          </p:nvPr>
        </p:nvSpPr>
        <p:spPr>
          <a:xfrm>
            <a:off x="7428309" y="4275534"/>
            <a:ext cx="6409730" cy="30480"/>
          </a:xfrm>
          <a:prstGeom prst="rect">
            <a:avLst/>
          </a:prstGeom>
          <a:solidFill>
            <a:srgbClr val="4950BC"/>
          </a:solidFill>
        </p:spPr>
      </p:sp>
      <p:sp>
        <p:nvSpPr>
          <p:cNvPr id="17" name="Text 15"/>
          <p:cNvSpPr/>
          <p:nvPr>
            <p:custDataLst>
              <p:tags r:id="rId21"/>
            </p:custDataLst>
          </p:nvPr>
        </p:nvSpPr>
        <p:spPr>
          <a:xfrm>
            <a:off x="7428309" y="4449604"/>
            <a:ext cx="2829997" cy="3537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Booking Operations</a:t>
            </a:r>
            <a:endParaRPr lang="en-US" sz="2400" b="1" dirty="0">
              <a:solidFill>
                <a:srgbClr val="272525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18" name="Text 16"/>
          <p:cNvSpPr/>
          <p:nvPr>
            <p:custDataLst>
              <p:tags r:id="rId22"/>
            </p:custDataLst>
          </p:nvPr>
        </p:nvSpPr>
        <p:spPr>
          <a:xfrm>
            <a:off x="7428309" y="4939070"/>
            <a:ext cx="6409730" cy="3623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Complete reservation lifecycle from booking to check-out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19" name="Text 17"/>
          <p:cNvSpPr/>
          <p:nvPr>
            <p:custDataLst>
              <p:tags r:id="rId23"/>
            </p:custDataLst>
          </p:nvPr>
        </p:nvSpPr>
        <p:spPr>
          <a:xfrm>
            <a:off x="792361" y="6059805"/>
            <a:ext cx="226338" cy="282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 Light" pitchFamily="34" charset="-122"/>
                <a:cs typeface="Calibri" panose="020F0502020204030204" charset="0"/>
              </a:rPr>
              <a:t>05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 Light" pitchFamily="34" charset="-122"/>
              <a:cs typeface="Calibri" panose="020F0502020204030204" charset="0"/>
            </a:endParaRPr>
          </a:p>
        </p:txBody>
      </p:sp>
      <p:sp>
        <p:nvSpPr>
          <p:cNvPr id="20" name="Shape 18"/>
          <p:cNvSpPr/>
          <p:nvPr>
            <p:custDataLst>
              <p:tags r:id="rId24"/>
            </p:custDataLst>
          </p:nvPr>
        </p:nvSpPr>
        <p:spPr>
          <a:xfrm>
            <a:off x="792361" y="6414016"/>
            <a:ext cx="6409611" cy="30480"/>
          </a:xfrm>
          <a:prstGeom prst="rect">
            <a:avLst/>
          </a:prstGeom>
          <a:solidFill>
            <a:srgbClr val="4950BC"/>
          </a:solidFill>
        </p:spPr>
      </p:sp>
      <p:sp>
        <p:nvSpPr>
          <p:cNvPr id="21" name="Text 19"/>
          <p:cNvSpPr/>
          <p:nvPr>
            <p:custDataLst>
              <p:tags r:id="rId25"/>
            </p:custDataLst>
          </p:nvPr>
        </p:nvSpPr>
        <p:spPr>
          <a:xfrm>
            <a:off x="792361" y="6588085"/>
            <a:ext cx="2829997" cy="3537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Profile Control</a:t>
            </a:r>
            <a:endParaRPr lang="en-US" sz="2400" b="1" dirty="0">
              <a:solidFill>
                <a:srgbClr val="272525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22" name="Text 20"/>
          <p:cNvSpPr/>
          <p:nvPr>
            <p:custDataLst>
              <p:tags r:id="rId26"/>
            </p:custDataLst>
          </p:nvPr>
        </p:nvSpPr>
        <p:spPr>
          <a:xfrm>
            <a:off x="792361" y="7077551"/>
            <a:ext cx="6409611" cy="3623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User data updates and account security management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23" name="Text 21"/>
          <p:cNvSpPr/>
          <p:nvPr>
            <p:custDataLst>
              <p:tags r:id="rId27"/>
            </p:custDataLst>
          </p:nvPr>
        </p:nvSpPr>
        <p:spPr>
          <a:xfrm>
            <a:off x="7428309" y="6059805"/>
            <a:ext cx="226338" cy="282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 Light" pitchFamily="34" charset="-122"/>
                <a:cs typeface="Calibri" panose="020F0502020204030204" charset="0"/>
              </a:rPr>
              <a:t>06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 Light" pitchFamily="34" charset="-122"/>
              <a:cs typeface="Calibri" panose="020F0502020204030204" charset="0"/>
            </a:endParaRPr>
          </a:p>
        </p:txBody>
      </p:sp>
      <p:sp>
        <p:nvSpPr>
          <p:cNvPr id="24" name="Shape 22"/>
          <p:cNvSpPr/>
          <p:nvPr>
            <p:custDataLst>
              <p:tags r:id="rId28"/>
            </p:custDataLst>
          </p:nvPr>
        </p:nvSpPr>
        <p:spPr>
          <a:xfrm>
            <a:off x="7428309" y="6414016"/>
            <a:ext cx="6409730" cy="30480"/>
          </a:xfrm>
          <a:prstGeom prst="rect">
            <a:avLst/>
          </a:prstGeom>
          <a:solidFill>
            <a:srgbClr val="4950BC"/>
          </a:solidFill>
        </p:spPr>
      </p:sp>
      <p:sp>
        <p:nvSpPr>
          <p:cNvPr id="25" name="Text 23"/>
          <p:cNvSpPr/>
          <p:nvPr>
            <p:custDataLst>
              <p:tags r:id="rId29"/>
            </p:custDataLst>
          </p:nvPr>
        </p:nvSpPr>
        <p:spPr>
          <a:xfrm>
            <a:off x="7428309" y="6588085"/>
            <a:ext cx="4995743" cy="3537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Real-time Notifications &amp; Remainder</a:t>
            </a:r>
            <a:endParaRPr lang="en-US" sz="2400" b="1" dirty="0">
              <a:solidFill>
                <a:srgbClr val="272525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26" name="Text 24"/>
          <p:cNvSpPr/>
          <p:nvPr>
            <p:custDataLst>
              <p:tags r:id="rId30"/>
            </p:custDataLst>
          </p:nvPr>
        </p:nvSpPr>
        <p:spPr>
          <a:xfrm>
            <a:off x="7428309" y="7077551"/>
            <a:ext cx="6409730" cy="3623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Event-driven alerts via Kafka for booking confirmations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4"/>
          <p:cNvSpPr/>
          <p:nvPr>
            <p:custDataLst>
              <p:tags r:id="rId1"/>
            </p:custDataLst>
          </p:nvPr>
        </p:nvSpPr>
        <p:spPr>
          <a:xfrm>
            <a:off x="8482330" y="5330190"/>
            <a:ext cx="3099435" cy="1831975"/>
          </a:xfrm>
          <a:prstGeom prst="roundRect">
            <a:avLst>
              <a:gd name="adj" fmla="val 3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3" name="Shape 4"/>
          <p:cNvSpPr/>
          <p:nvPr>
            <p:custDataLst>
              <p:tags r:id="rId2"/>
            </p:custDataLst>
          </p:nvPr>
        </p:nvSpPr>
        <p:spPr>
          <a:xfrm>
            <a:off x="4973320" y="5330190"/>
            <a:ext cx="3099435" cy="1831975"/>
          </a:xfrm>
          <a:prstGeom prst="roundRect">
            <a:avLst>
              <a:gd name="adj" fmla="val 3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2" name="Shape 4"/>
          <p:cNvSpPr/>
          <p:nvPr>
            <p:custDataLst>
              <p:tags r:id="rId3"/>
            </p:custDataLst>
          </p:nvPr>
        </p:nvSpPr>
        <p:spPr>
          <a:xfrm>
            <a:off x="1448435" y="5330190"/>
            <a:ext cx="3099435" cy="1831975"/>
          </a:xfrm>
          <a:prstGeom prst="roundRect">
            <a:avLst>
              <a:gd name="adj" fmla="val 3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1" name="Shape 4"/>
          <p:cNvSpPr/>
          <p:nvPr>
            <p:custDataLst>
              <p:tags r:id="rId4"/>
            </p:custDataLst>
          </p:nvPr>
        </p:nvSpPr>
        <p:spPr>
          <a:xfrm>
            <a:off x="10744835" y="3030220"/>
            <a:ext cx="3099435" cy="1831975"/>
          </a:xfrm>
          <a:prstGeom prst="roundRect">
            <a:avLst>
              <a:gd name="adj" fmla="val 3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0" name="Shape 4"/>
          <p:cNvSpPr/>
          <p:nvPr>
            <p:custDataLst>
              <p:tags r:id="rId5"/>
            </p:custDataLst>
          </p:nvPr>
        </p:nvSpPr>
        <p:spPr>
          <a:xfrm>
            <a:off x="7342505" y="3030220"/>
            <a:ext cx="3099435" cy="1831975"/>
          </a:xfrm>
          <a:prstGeom prst="roundRect">
            <a:avLst>
              <a:gd name="adj" fmla="val 3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9" name="Shape 4"/>
          <p:cNvSpPr/>
          <p:nvPr>
            <p:custDataLst>
              <p:tags r:id="rId6"/>
            </p:custDataLst>
          </p:nvPr>
        </p:nvSpPr>
        <p:spPr>
          <a:xfrm>
            <a:off x="643890" y="3030220"/>
            <a:ext cx="3099435" cy="1831975"/>
          </a:xfrm>
          <a:prstGeom prst="roundRect">
            <a:avLst>
              <a:gd name="adj" fmla="val 3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7" name="Shape 4"/>
          <p:cNvSpPr/>
          <p:nvPr>
            <p:custDataLst>
              <p:tags r:id="rId7"/>
            </p:custDataLst>
          </p:nvPr>
        </p:nvSpPr>
        <p:spPr>
          <a:xfrm>
            <a:off x="3992880" y="3029585"/>
            <a:ext cx="3099435" cy="1831975"/>
          </a:xfrm>
          <a:prstGeom prst="roundRect">
            <a:avLst>
              <a:gd name="adj" fmla="val 3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34730" y="1571427"/>
            <a:ext cx="8161377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Backend Services Ecosystem</a:t>
            </a:r>
            <a:endParaRPr lang="en-US" sz="4800" b="1" dirty="0">
              <a:solidFill>
                <a:srgbClr val="000000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09943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API Gateway</a:t>
            </a:r>
            <a:endParaRPr lang="en-US" sz="2400" b="1" dirty="0">
              <a:solidFill>
                <a:srgbClr val="272525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3589853"/>
            <a:ext cx="3048000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Centralized routing and JWT authentication on port 8008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25278" y="309943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Service Discovery</a:t>
            </a:r>
            <a:endParaRPr lang="en-US" sz="2400" b="1" dirty="0">
              <a:solidFill>
                <a:srgbClr val="272525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24960" y="3589655"/>
            <a:ext cx="2914650" cy="1089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Eureka server for dynamic service registration at port 8761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56884" y="309943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Config Server</a:t>
            </a:r>
            <a:endParaRPr lang="en-US" sz="2400" b="1" dirty="0">
              <a:solidFill>
                <a:srgbClr val="272525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56884" y="3589853"/>
            <a:ext cx="304811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Centralized configuration management on port 8888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788491" y="309943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Auth Service</a:t>
            </a:r>
            <a:endParaRPr lang="en-US" sz="2400" b="1" dirty="0">
              <a:solidFill>
                <a:srgbClr val="272525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788491" y="3589853"/>
            <a:ext cx="304811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User registration, login, and role-based access control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580555" y="545695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Hotel Service</a:t>
            </a:r>
            <a:endParaRPr lang="en-US" sz="2400" b="1" dirty="0">
              <a:solidFill>
                <a:srgbClr val="272525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580555" y="5988010"/>
            <a:ext cx="3048000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Hotel and room management with search capabilities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105083" y="541504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Booking Service</a:t>
            </a:r>
            <a:endParaRPr lang="en-US" sz="2400" b="1" dirty="0">
              <a:solidFill>
                <a:srgbClr val="272525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105083" y="5906095"/>
            <a:ext cx="304811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Reservation handling, cancellations, and check-in operations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8497570" y="5429250"/>
            <a:ext cx="3084195" cy="372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40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  <a:sym typeface="+mn-ea"/>
              </a:rPr>
              <a:t>Notification Service</a:t>
            </a:r>
            <a:endParaRPr lang="en-US" sz="2400" b="1" dirty="0">
              <a:solidFill>
                <a:srgbClr val="272525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  <a:p>
            <a:endParaRPr lang="en-US" sz="2400" b="1" dirty="0">
              <a:solidFill>
                <a:srgbClr val="272525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8497570" y="5906135"/>
            <a:ext cx="27349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Handles All produced Kafka Request an</a:t>
            </a:r>
            <a:r>
              <a:rPr lang="en-US">
                <a:latin typeface="Calibri" panose="020F0502020204030204" charset="0"/>
                <a:cs typeface="Calibri" panose="020F0502020204030204" charset="0"/>
              </a:rPr>
              <a:t>d sends </a:t>
            </a:r>
            <a:endParaRPr lang="en-US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4"/>
          <p:cNvSpPr/>
          <p:nvPr>
            <p:custDataLst>
              <p:tags r:id="rId1"/>
            </p:custDataLst>
          </p:nvPr>
        </p:nvSpPr>
        <p:spPr>
          <a:xfrm>
            <a:off x="8492490" y="2912110"/>
            <a:ext cx="4742180" cy="3581400"/>
          </a:xfrm>
          <a:prstGeom prst="roundRect">
            <a:avLst>
              <a:gd name="adj" fmla="val 3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3" name="Shape 4"/>
          <p:cNvSpPr/>
          <p:nvPr>
            <p:custDataLst>
              <p:tags r:id="rId2"/>
            </p:custDataLst>
          </p:nvPr>
        </p:nvSpPr>
        <p:spPr>
          <a:xfrm>
            <a:off x="1733550" y="3100070"/>
            <a:ext cx="4742180" cy="3581400"/>
          </a:xfrm>
          <a:prstGeom prst="roundRect">
            <a:avLst>
              <a:gd name="adj" fmla="val 3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4479965" y="1544876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Technology Stack</a:t>
            </a:r>
            <a:endParaRPr lang="en-US" sz="4800" b="1" dirty="0">
              <a:solidFill>
                <a:srgbClr val="000000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010450" y="3100030"/>
            <a:ext cx="3810714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Frontend Technologies</a:t>
            </a:r>
            <a:endParaRPr lang="en-US" sz="2800" b="1" dirty="0">
              <a:solidFill>
                <a:srgbClr val="000000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010450" y="3678476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Angular 21+ framework with TypeScript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010450" y="4194334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RxJS for reactive programming patterns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010450" y="4710192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Vitest for comprehensive unit testing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10450" y="5115560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Prettier for consistent code formatting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010450" y="5568553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Responsive design with mobile optimization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842851" y="3100030"/>
            <a:ext cx="3758327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Backend Technologies</a:t>
            </a:r>
            <a:endParaRPr lang="en-US" sz="2800" b="1" dirty="0">
              <a:solidFill>
                <a:srgbClr val="000000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842851" y="3677841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Java 17 with Spring Boot 3.x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842851" y="4157504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Spring Cloud (Gateway, Eureka, Config)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842851" y="4617482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Spring Security with JWT authentication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842851" y="5068570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Apache Kafka for message brokering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842851" y="5557758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MongoDB for NoSQL data persistence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842851" y="5927566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Docker &amp; Docker Compose orchestration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150269" y="470773"/>
            <a:ext cx="1130975" cy="1971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1400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89086" y="750927"/>
            <a:ext cx="3851791" cy="481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Development Setup</a:t>
            </a:r>
            <a:endParaRPr lang="en-US" sz="4000" b="1" dirty="0">
              <a:solidFill>
                <a:srgbClr val="000000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2211943" y="1719263"/>
            <a:ext cx="154067" cy="693182"/>
          </a:xfrm>
          <a:prstGeom prst="roundRect">
            <a:avLst>
              <a:gd name="adj" fmla="val 4200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2057876" y="1618059"/>
            <a:ext cx="462201" cy="462201"/>
          </a:xfrm>
          <a:prstGeom prst="roundRect">
            <a:avLst>
              <a:gd name="adj" fmla="val 9891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73367" y="1733550"/>
            <a:ext cx="231100" cy="231100"/>
          </a:xfrm>
          <a:prstGeom prst="rect">
            <a:avLst/>
          </a:prstGeom>
        </p:spPr>
      </p:pic>
      <p:sp>
        <p:nvSpPr>
          <p:cNvPr id="8" name="Text 5"/>
          <p:cNvSpPr/>
          <p:nvPr>
            <p:custDataLst>
              <p:tags r:id="rId6"/>
            </p:custDataLst>
          </p:nvPr>
        </p:nvSpPr>
        <p:spPr>
          <a:xfrm>
            <a:off x="2674144" y="1642229"/>
            <a:ext cx="1925836" cy="2407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Prerequisites</a:t>
            </a:r>
            <a:endParaRPr lang="en-US" sz="2000" b="1" dirty="0">
              <a:solidFill>
                <a:srgbClr val="272525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9" name="Text 6"/>
          <p:cNvSpPr/>
          <p:nvPr>
            <p:custDataLst>
              <p:tags r:id="rId7"/>
            </p:custDataLst>
          </p:nvPr>
        </p:nvSpPr>
        <p:spPr>
          <a:xfrm>
            <a:off x="2674144" y="1975366"/>
            <a:ext cx="9128760" cy="2464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Install Node.js 18+, Angular CLI 21+, Java 17, Docker, and Maven on your development machine.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10" name="Shape 7"/>
          <p:cNvSpPr/>
          <p:nvPr>
            <p:custDataLst>
              <p:tags r:id="rId8"/>
            </p:custDataLst>
          </p:nvPr>
        </p:nvSpPr>
        <p:spPr>
          <a:xfrm>
            <a:off x="2443043" y="2797731"/>
            <a:ext cx="154067" cy="693182"/>
          </a:xfrm>
          <a:prstGeom prst="roundRect">
            <a:avLst>
              <a:gd name="adj" fmla="val 4200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Shape 8"/>
          <p:cNvSpPr/>
          <p:nvPr>
            <p:custDataLst>
              <p:tags r:id="rId9"/>
            </p:custDataLst>
          </p:nvPr>
        </p:nvSpPr>
        <p:spPr>
          <a:xfrm>
            <a:off x="2288977" y="2696527"/>
            <a:ext cx="462201" cy="462201"/>
          </a:xfrm>
          <a:prstGeom prst="roundRect">
            <a:avLst>
              <a:gd name="adj" fmla="val 9891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04467" y="2812018"/>
            <a:ext cx="231100" cy="231100"/>
          </a:xfrm>
          <a:prstGeom prst="rect">
            <a:avLst/>
          </a:prstGeom>
        </p:spPr>
      </p:pic>
      <p:sp>
        <p:nvSpPr>
          <p:cNvPr id="13" name="Text 9"/>
          <p:cNvSpPr/>
          <p:nvPr>
            <p:custDataLst>
              <p:tags r:id="rId12"/>
            </p:custDataLst>
          </p:nvPr>
        </p:nvSpPr>
        <p:spPr>
          <a:xfrm>
            <a:off x="2905244" y="2720697"/>
            <a:ext cx="1925836" cy="2407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Clone Repository</a:t>
            </a:r>
            <a:endParaRPr lang="en-US" sz="2000" b="1" dirty="0">
              <a:solidFill>
                <a:srgbClr val="272525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14" name="Text 10"/>
          <p:cNvSpPr/>
          <p:nvPr>
            <p:custDataLst>
              <p:tags r:id="rId13"/>
            </p:custDataLst>
          </p:nvPr>
        </p:nvSpPr>
        <p:spPr>
          <a:xfrm>
            <a:off x="2905244" y="3053834"/>
            <a:ext cx="8897660" cy="2464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Clone both frontend and backend repositories to your local environment using git clone commands.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15" name="Shape 11"/>
          <p:cNvSpPr/>
          <p:nvPr>
            <p:custDataLst>
              <p:tags r:id="rId14"/>
            </p:custDataLst>
          </p:nvPr>
        </p:nvSpPr>
        <p:spPr>
          <a:xfrm>
            <a:off x="2674144" y="3876199"/>
            <a:ext cx="154067" cy="693182"/>
          </a:xfrm>
          <a:prstGeom prst="roundRect">
            <a:avLst>
              <a:gd name="adj" fmla="val 4200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Shape 12"/>
          <p:cNvSpPr/>
          <p:nvPr>
            <p:custDataLst>
              <p:tags r:id="rId15"/>
            </p:custDataLst>
          </p:nvPr>
        </p:nvSpPr>
        <p:spPr>
          <a:xfrm>
            <a:off x="2520077" y="3774996"/>
            <a:ext cx="462201" cy="462201"/>
          </a:xfrm>
          <a:prstGeom prst="roundRect">
            <a:avLst>
              <a:gd name="adj" fmla="val 9891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635568" y="3890486"/>
            <a:ext cx="231100" cy="231100"/>
          </a:xfrm>
          <a:prstGeom prst="rect">
            <a:avLst/>
          </a:prstGeom>
        </p:spPr>
      </p:pic>
      <p:sp>
        <p:nvSpPr>
          <p:cNvPr id="18" name="Text 13"/>
          <p:cNvSpPr/>
          <p:nvPr>
            <p:custDataLst>
              <p:tags r:id="rId18"/>
            </p:custDataLst>
          </p:nvPr>
        </p:nvSpPr>
        <p:spPr>
          <a:xfrm>
            <a:off x="3136344" y="3799165"/>
            <a:ext cx="1968460" cy="2407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Install Dependencies</a:t>
            </a:r>
            <a:endParaRPr lang="en-US" sz="2000" b="1" dirty="0">
              <a:solidFill>
                <a:srgbClr val="272525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19" name="Text 14"/>
          <p:cNvSpPr/>
          <p:nvPr>
            <p:custDataLst>
              <p:tags r:id="rId19"/>
            </p:custDataLst>
          </p:nvPr>
        </p:nvSpPr>
        <p:spPr>
          <a:xfrm>
            <a:off x="3136344" y="4132302"/>
            <a:ext cx="8666559" cy="2464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Run npm install for frontend and Maven builds for backend services to fetch all required packages.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20" name="Shape 15"/>
          <p:cNvSpPr/>
          <p:nvPr>
            <p:custDataLst>
              <p:tags r:id="rId20"/>
            </p:custDataLst>
          </p:nvPr>
        </p:nvSpPr>
        <p:spPr>
          <a:xfrm>
            <a:off x="2905244" y="4954667"/>
            <a:ext cx="154067" cy="693182"/>
          </a:xfrm>
          <a:prstGeom prst="roundRect">
            <a:avLst>
              <a:gd name="adj" fmla="val 4200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1" name="Shape 16"/>
          <p:cNvSpPr/>
          <p:nvPr>
            <p:custDataLst>
              <p:tags r:id="rId21"/>
            </p:custDataLst>
          </p:nvPr>
        </p:nvSpPr>
        <p:spPr>
          <a:xfrm>
            <a:off x="2751177" y="4853464"/>
            <a:ext cx="462201" cy="462201"/>
          </a:xfrm>
          <a:prstGeom prst="roundRect">
            <a:avLst>
              <a:gd name="adj" fmla="val 9891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866668" y="4968954"/>
            <a:ext cx="231100" cy="231100"/>
          </a:xfrm>
          <a:prstGeom prst="rect">
            <a:avLst/>
          </a:prstGeom>
        </p:spPr>
      </p:pic>
      <p:sp>
        <p:nvSpPr>
          <p:cNvPr id="23" name="Text 17"/>
          <p:cNvSpPr/>
          <p:nvPr>
            <p:custDataLst>
              <p:tags r:id="rId24"/>
            </p:custDataLst>
          </p:nvPr>
        </p:nvSpPr>
        <p:spPr>
          <a:xfrm>
            <a:off x="3367445" y="4877633"/>
            <a:ext cx="1925836" cy="2407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Start Infrastructure</a:t>
            </a:r>
            <a:endParaRPr lang="en-US" sz="2000" b="1" dirty="0">
              <a:solidFill>
                <a:srgbClr val="272525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24" name="Text 18"/>
          <p:cNvSpPr/>
          <p:nvPr>
            <p:custDataLst>
              <p:tags r:id="rId25"/>
            </p:custDataLst>
          </p:nvPr>
        </p:nvSpPr>
        <p:spPr>
          <a:xfrm>
            <a:off x="3367445" y="5210770"/>
            <a:ext cx="8435459" cy="2464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Launch MongoDB, Kafka, and Zookeeper using docker-compose up for backend dependencies.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25" name="Shape 19"/>
          <p:cNvSpPr/>
          <p:nvPr>
            <p:custDataLst>
              <p:tags r:id="rId26"/>
            </p:custDataLst>
          </p:nvPr>
        </p:nvSpPr>
        <p:spPr>
          <a:xfrm>
            <a:off x="2674144" y="6033135"/>
            <a:ext cx="154067" cy="693182"/>
          </a:xfrm>
          <a:prstGeom prst="roundRect">
            <a:avLst>
              <a:gd name="adj" fmla="val 4200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6" name="Shape 20"/>
          <p:cNvSpPr/>
          <p:nvPr>
            <p:custDataLst>
              <p:tags r:id="rId27"/>
            </p:custDataLst>
          </p:nvPr>
        </p:nvSpPr>
        <p:spPr>
          <a:xfrm>
            <a:off x="2520077" y="5931932"/>
            <a:ext cx="462201" cy="462201"/>
          </a:xfrm>
          <a:prstGeom prst="roundRect">
            <a:avLst>
              <a:gd name="adj" fmla="val 9891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635568" y="6047422"/>
            <a:ext cx="231100" cy="231100"/>
          </a:xfrm>
          <a:prstGeom prst="rect">
            <a:avLst/>
          </a:prstGeom>
        </p:spPr>
      </p:pic>
      <p:sp>
        <p:nvSpPr>
          <p:cNvPr id="28" name="Text 21"/>
          <p:cNvSpPr/>
          <p:nvPr>
            <p:custDataLst>
              <p:tags r:id="rId30"/>
            </p:custDataLst>
          </p:nvPr>
        </p:nvSpPr>
        <p:spPr>
          <a:xfrm>
            <a:off x="3136344" y="5956102"/>
            <a:ext cx="1925836" cy="2407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Run Services</a:t>
            </a:r>
            <a:endParaRPr lang="en-US" sz="2000" b="1" dirty="0">
              <a:solidFill>
                <a:srgbClr val="272525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29" name="Text 22"/>
          <p:cNvSpPr/>
          <p:nvPr>
            <p:custDataLst>
              <p:tags r:id="rId31"/>
            </p:custDataLst>
          </p:nvPr>
        </p:nvSpPr>
        <p:spPr>
          <a:xfrm>
            <a:off x="3136344" y="6289238"/>
            <a:ext cx="8666559" cy="2464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Start Config Server, Eureka, then Auth, Hotel, and Booking services in sequence, followed by API Gateway.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30" name="Shape 23"/>
          <p:cNvSpPr/>
          <p:nvPr>
            <p:custDataLst>
              <p:tags r:id="rId32"/>
            </p:custDataLst>
          </p:nvPr>
        </p:nvSpPr>
        <p:spPr>
          <a:xfrm>
            <a:off x="2443043" y="7111603"/>
            <a:ext cx="154067" cy="693182"/>
          </a:xfrm>
          <a:prstGeom prst="roundRect">
            <a:avLst>
              <a:gd name="adj" fmla="val 4200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31" name="Shape 24"/>
          <p:cNvSpPr/>
          <p:nvPr>
            <p:custDataLst>
              <p:tags r:id="rId33"/>
            </p:custDataLst>
          </p:nvPr>
        </p:nvSpPr>
        <p:spPr>
          <a:xfrm>
            <a:off x="2288977" y="7010400"/>
            <a:ext cx="462201" cy="462201"/>
          </a:xfrm>
          <a:prstGeom prst="roundRect">
            <a:avLst>
              <a:gd name="adj" fmla="val 9891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404467" y="7125891"/>
            <a:ext cx="231100" cy="231100"/>
          </a:xfrm>
          <a:prstGeom prst="rect">
            <a:avLst/>
          </a:prstGeom>
        </p:spPr>
      </p:pic>
      <p:sp>
        <p:nvSpPr>
          <p:cNvPr id="33" name="Text 25"/>
          <p:cNvSpPr/>
          <p:nvPr>
            <p:custDataLst>
              <p:tags r:id="rId36"/>
            </p:custDataLst>
          </p:nvPr>
        </p:nvSpPr>
        <p:spPr>
          <a:xfrm>
            <a:off x="2905244" y="7034570"/>
            <a:ext cx="1925836" cy="2407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Launch Frontend</a:t>
            </a:r>
            <a:endParaRPr lang="en-US" sz="2000" b="1" dirty="0">
              <a:solidFill>
                <a:srgbClr val="272525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34" name="Text 26"/>
          <p:cNvSpPr/>
          <p:nvPr>
            <p:custDataLst>
              <p:tags r:id="rId37"/>
            </p:custDataLst>
          </p:nvPr>
        </p:nvSpPr>
        <p:spPr>
          <a:xfrm>
            <a:off x="2905244" y="7367707"/>
            <a:ext cx="8897660" cy="2464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Execute ng serve to start the Angular development server at localhost:4200 with live reload enabled.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2616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5330" y="3208139"/>
            <a:ext cx="6163628" cy="65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API Endpoints Overview</a:t>
            </a:r>
            <a:endParaRPr lang="en-US" sz="4400" b="1" dirty="0">
              <a:solidFill>
                <a:srgbClr val="000000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35330" y="4179808"/>
            <a:ext cx="13159740" cy="3362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All endpoints route through the API Gateway at </a:t>
            </a:r>
            <a:r>
              <a:rPr lang="en-US" b="1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localhost:8008</a:t>
            </a: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 with role-based authorization enforced via JWT tokens.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35330" y="4752380"/>
            <a:ext cx="4246483" cy="2895124"/>
          </a:xfrm>
          <a:prstGeom prst="roundRect">
            <a:avLst>
              <a:gd name="adj" fmla="val 3048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58190" y="4775240"/>
            <a:ext cx="4200763" cy="630198"/>
          </a:xfrm>
          <a:prstGeom prst="roundRect">
            <a:avLst>
              <a:gd name="adj" fmla="val 9649"/>
            </a:avLst>
          </a:prstGeom>
          <a:solidFill>
            <a:srgbClr val="DADBF1"/>
          </a:solidFill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1052" y="4928949"/>
            <a:ext cx="315039" cy="31503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8216" y="5615464"/>
            <a:ext cx="2626162" cy="3282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Auth Service</a:t>
            </a:r>
            <a:endParaRPr lang="en-US" sz="2400" b="1" dirty="0">
              <a:solidFill>
                <a:srgbClr val="272525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968216" y="6069687"/>
            <a:ext cx="3780711" cy="1344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Public registration and login, authenticated password changes, admin manager registration, manager receptionist registration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5191839" y="4752380"/>
            <a:ext cx="4246602" cy="2895124"/>
          </a:xfrm>
          <a:prstGeom prst="roundRect">
            <a:avLst>
              <a:gd name="adj" fmla="val 3048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214699" y="4775240"/>
            <a:ext cx="4200882" cy="630198"/>
          </a:xfrm>
          <a:prstGeom prst="roundRect">
            <a:avLst>
              <a:gd name="adj" fmla="val 9649"/>
            </a:avLst>
          </a:prstGeom>
          <a:solidFill>
            <a:srgbClr val="DADBF1"/>
          </a:solidFill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7561" y="4928949"/>
            <a:ext cx="315039" cy="31503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24726" y="5615464"/>
            <a:ext cx="2626162" cy="3282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Hotel Service</a:t>
            </a:r>
            <a:endParaRPr lang="en-US" sz="2400" b="1" dirty="0">
              <a:solidFill>
                <a:srgbClr val="272525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5424726" y="6069687"/>
            <a:ext cx="3780830" cy="1344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Hotel CRUD operations, room management, public search functionality, availability queries, check-in/check-out processing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9648468" y="4752380"/>
            <a:ext cx="4246483" cy="2895124"/>
          </a:xfrm>
          <a:prstGeom prst="roundRect">
            <a:avLst>
              <a:gd name="adj" fmla="val 3048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671328" y="4775240"/>
            <a:ext cx="4200763" cy="630198"/>
          </a:xfrm>
          <a:prstGeom prst="roundRect">
            <a:avLst>
              <a:gd name="adj" fmla="val 9649"/>
            </a:avLst>
          </a:prstGeom>
          <a:solidFill>
            <a:srgbClr val="DADBF1"/>
          </a:solidFill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14190" y="4928949"/>
            <a:ext cx="315039" cy="31503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881354" y="5615464"/>
            <a:ext cx="2626162" cy="3282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Booking Service</a:t>
            </a:r>
            <a:endParaRPr lang="en-US" sz="2400" b="1" dirty="0">
              <a:solidFill>
                <a:srgbClr val="272525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9881354" y="6069687"/>
            <a:ext cx="3780711" cy="1344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Create and cancel reservations, view bookings by user or hotel, update booking details, receptionist check-in operations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"/>
          <p:cNvSpPr/>
          <p:nvPr/>
        </p:nvSpPr>
        <p:spPr>
          <a:xfrm>
            <a:off x="1193165" y="4523105"/>
            <a:ext cx="8809355" cy="2660650"/>
          </a:xfrm>
          <a:prstGeom prst="roundRect">
            <a:avLst>
              <a:gd name="adj" fmla="val 22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7" name="Shape 1"/>
          <p:cNvSpPr/>
          <p:nvPr/>
        </p:nvSpPr>
        <p:spPr>
          <a:xfrm>
            <a:off x="1193165" y="1735455"/>
            <a:ext cx="8809355" cy="2660650"/>
          </a:xfrm>
          <a:prstGeom prst="roundRect">
            <a:avLst>
              <a:gd name="adj" fmla="val 22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13340" y="933450"/>
            <a:ext cx="5003602" cy="5693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Database Architecture</a:t>
            </a:r>
            <a:endParaRPr lang="en-US" sz="3600" b="1" dirty="0">
              <a:solidFill>
                <a:srgbClr val="000000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551980" y="1958221"/>
            <a:ext cx="2793802" cy="3417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MongoDB Databases</a:t>
            </a:r>
            <a:endParaRPr lang="en-US" sz="3200" b="1" dirty="0">
              <a:solidFill>
                <a:srgbClr val="000000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51980" y="2482096"/>
            <a:ext cx="5540812" cy="583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Separate database instances ensure service independence and data isolation: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51940" y="3228975"/>
            <a:ext cx="5541010" cy="9677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SzPct val="100000"/>
              <a:buNone/>
            </a:pPr>
            <a:r>
              <a:rPr lang="en-US" b="1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HotelAuthdb</a:t>
            </a: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 - User authentication data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  <a:p>
            <a:pPr marL="0" indent="0" algn="l">
              <a:lnSpc>
                <a:spcPts val="2250"/>
              </a:lnSpc>
              <a:buSzPct val="100000"/>
              <a:buNone/>
            </a:pPr>
            <a:r>
              <a:rPr lang="en-US" b="1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  <a:sym typeface="+mn-ea"/>
              </a:rPr>
              <a:t>Hoteldb</a:t>
            </a: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  <a:sym typeface="+mn-ea"/>
              </a:rPr>
              <a:t> - Hotel and room information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  <a:sym typeface="+mn-ea"/>
            </a:endParaRPr>
          </a:p>
          <a:p>
            <a:pPr marL="0" indent="0" algn="l">
              <a:lnSpc>
                <a:spcPts val="2250"/>
              </a:lnSpc>
              <a:buSzPct val="100000"/>
              <a:buNone/>
            </a:pPr>
            <a:r>
              <a:rPr lang="en-US" b="1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  <a:sym typeface="+mn-ea"/>
              </a:rPr>
              <a:t>HotelBookingdb</a:t>
            </a: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  <a:sym typeface="+mn-ea"/>
              </a:rPr>
              <a:t> - Reservation records</a:t>
            </a:r>
            <a:endParaRPr lang="en-US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 algn="l">
              <a:lnSpc>
                <a:spcPts val="2250"/>
              </a:lnSpc>
              <a:buSzPct val="100000"/>
              <a:buNone/>
            </a:pPr>
            <a:endParaRPr lang="en-US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 algn="l">
              <a:lnSpc>
                <a:spcPts val="2250"/>
              </a:lnSpc>
              <a:buSzPct val="100000"/>
              <a:buNone/>
            </a:pPr>
            <a:endParaRPr 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551980" y="3939778"/>
            <a:ext cx="5540812" cy="2915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SzPct val="100000"/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1980" y="4395311"/>
            <a:ext cx="5540812" cy="2915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1980" y="4869061"/>
            <a:ext cx="2733437" cy="3417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Kafka Integration</a:t>
            </a:r>
            <a:endParaRPr lang="en-US" sz="21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51940" y="5393055"/>
            <a:ext cx="7167880" cy="16935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25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Event-driven architecture enables asynchronous communication between services, particularly for booking notifications and real-time updates across the system.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  <a:p>
            <a:pPr marL="285750" indent="-285750" algn="l">
              <a:lnSpc>
                <a:spcPts val="225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72525"/>
                </a:solidFill>
                <a:latin typeface="Calibri" panose="020F0502020204030204" charset="0"/>
                <a:ea typeface="Inter" panose="02000503000000020004" pitchFamily="34" charset="-122"/>
                <a:cs typeface="Calibri" panose="020F0502020204030204" charset="0"/>
              </a:rPr>
              <a:t>Kafta Also handles All the notification and Remainders Generated by the Scheduler in Booking Services </a:t>
            </a:r>
            <a:endParaRPr lang="en-US" dirty="0">
              <a:solidFill>
                <a:srgbClr val="272525"/>
              </a:solidFill>
              <a:latin typeface="Calibri" panose="020F0502020204030204" charset="0"/>
              <a:ea typeface="Inter" panose="02000503000000020004" pitchFamily="34" charset="-122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8675" y="1264007"/>
            <a:ext cx="5993725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Quality &amp; Deployment</a:t>
            </a:r>
            <a:endParaRPr lang="en-US" sz="44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50" y="2407285"/>
            <a:ext cx="4196080" cy="4862195"/>
          </a:xfrm>
          <a:prstGeom prst="roundRect">
            <a:avLst>
              <a:gd name="adj" fmla="val 22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409" y="277788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Security</a:t>
            </a:r>
            <a:endParaRPr lang="en-US" sz="36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28065" y="3190240"/>
            <a:ext cx="3727450" cy="36804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JWT-based authentication with secure token management</a:t>
            </a:r>
            <a:endParaRPr lang="en-US" sz="1750" dirty="0">
              <a:solidFill>
                <a:srgbClr val="272525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  <a:sym typeface="+mn-ea"/>
              </a:rPr>
              <a:t>Role-based access control (GUEST,RECEPTIONIST, MANAGER, ADMIN)</a:t>
            </a:r>
            <a:endParaRPr lang="en-US" sz="1750" dirty="0">
              <a:solidFill>
                <a:srgbClr val="272525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  <a:sym typeface="+mn-ea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  <a:sym typeface="+mn-ea"/>
              </a:rPr>
              <a:t>CORS configuration for cross-origin requests</a:t>
            </a:r>
            <a:endParaRPr lang="en-US" sz="1750" dirty="0">
              <a:solidFill>
                <a:srgbClr val="272525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  <a:sym typeface="+mn-ea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  <a:sym typeface="+mn-ea"/>
              </a:rPr>
              <a:t>Spring Security integration across all services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7160" y="2407285"/>
            <a:ext cx="4196080" cy="4900295"/>
          </a:xfrm>
          <a:prstGeom prst="roundRect">
            <a:avLst>
              <a:gd name="adj" fmla="val 22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63461" y="277788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Testing </a:t>
            </a:r>
            <a:r>
              <a:rPr lang="en-US" sz="360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&amp; Quality</a:t>
            </a:r>
            <a:endParaRPr lang="en-US" sz="36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63540" y="3298825"/>
            <a:ext cx="3527425" cy="3319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Vitest for frontend unit testing</a:t>
            </a:r>
            <a:endParaRPr lang="en-US" sz="1750" dirty="0">
              <a:solidFill>
                <a:srgbClr val="272525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  <a:sym typeface="+mn-ea"/>
              </a:rPr>
              <a:t>End-to-end test configuration</a:t>
            </a:r>
            <a:endParaRPr lang="en-US" sz="1750" dirty="0">
              <a:solidFill>
                <a:srgbClr val="272525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  <a:sym typeface="+mn-ea"/>
            </a:endParaRPr>
          </a:p>
          <a:p>
            <a:pPr indent="457200" algn="l">
              <a:lnSpc>
                <a:spcPts val="2850"/>
              </a:lnSpc>
              <a:buSzPct val="100000"/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  <a:sym typeface="+mn-ea"/>
              </a:rPr>
              <a:t> with ng e2e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  <a:sym typeface="+mn-ea"/>
              </a:rPr>
              <a:t>SonarQube integration for </a:t>
            </a:r>
            <a:endParaRPr lang="en-US" sz="1750" dirty="0">
              <a:solidFill>
                <a:srgbClr val="272525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  <a:sym typeface="+mn-ea"/>
            </a:endParaRPr>
          </a:p>
          <a:p>
            <a:pPr indent="457200" algn="l">
              <a:lnSpc>
                <a:spcPts val="2850"/>
              </a:lnSpc>
              <a:buSzPct val="100000"/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  <a:sym typeface="+mn-ea"/>
              </a:rPr>
              <a:t>code analysis</a:t>
            </a:r>
            <a:endParaRPr lang="en-US" sz="1750" dirty="0">
              <a:solidFill>
                <a:srgbClr val="272525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  <a:sym typeface="+mn-ea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  <a:sym typeface="+mn-ea"/>
              </a:rPr>
              <a:t>Automated testing in CI/CD</a:t>
            </a:r>
            <a:endParaRPr lang="en-US" sz="1750" dirty="0">
              <a:solidFill>
                <a:srgbClr val="272525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  <a:sym typeface="+mn-ea"/>
            </a:endParaRPr>
          </a:p>
          <a:p>
            <a:pPr indent="457200" algn="l">
              <a:lnSpc>
                <a:spcPts val="2850"/>
              </a:lnSpc>
              <a:buSzPct val="100000"/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  <a:sym typeface="+mn-ea"/>
              </a:rPr>
              <a:t> pipelines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5451396" y="3574613"/>
            <a:ext cx="372749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5451396" y="4379714"/>
            <a:ext cx="372749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451396" y="5184815"/>
            <a:ext cx="372749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39935" y="2407285"/>
            <a:ext cx="4196080" cy="4817745"/>
          </a:xfrm>
          <a:prstGeom prst="roundRect">
            <a:avLst>
              <a:gd name="adj" fmla="val 22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15513" y="277788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DevOps</a:t>
            </a:r>
            <a:endParaRPr lang="en-US" sz="3600" b="1" dirty="0">
              <a:solidFill>
                <a:srgbClr val="272525"/>
              </a:solidFill>
              <a:latin typeface="Calibri" panose="020F0502020204030204" charset="0"/>
              <a:ea typeface="Inter Bold" pitchFamily="34" charset="-122"/>
              <a:cs typeface="Calibri" panose="020F050202020403020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874568" y="3132415"/>
            <a:ext cx="372749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9874568" y="3937516"/>
            <a:ext cx="372749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779635" y="3298825"/>
            <a:ext cx="3727450" cy="31127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Production build with ng build command</a:t>
            </a:r>
            <a:endParaRPr lang="en-US" sz="1750" dirty="0">
              <a:solidFill>
                <a:srgbClr val="272525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  <a:sym typeface="+mn-ea"/>
              </a:rPr>
              <a:t>Docker Compose orchestration for local development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  <a:sym typeface="+mn-ea"/>
              </a:rPr>
              <a:t>Docker containerization for all services</a:t>
            </a:r>
            <a:endParaRPr lang="en-US" sz="1750" dirty="0">
              <a:solidFill>
                <a:srgbClr val="272525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  <a:sym typeface="+mn-ea"/>
              </a:rPr>
              <a:t>Maven-based backend builds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9874568" y="5547717"/>
            <a:ext cx="3727490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3595371"/>
            <a:ext cx="13167360" cy="1371600"/>
          </a:xfrm>
        </p:spPr>
        <p:txBody>
          <a:bodyPr/>
          <a:p>
            <a:r>
              <a:rPr lang="en-US"/>
              <a:t>Thank You</a:t>
            </a:r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2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3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4.xml><?xml version="1.0" encoding="utf-8"?>
<p:tagLst xmlns:p="http://schemas.openxmlformats.org/presentationml/2006/main">
  <p:tag name="KSO_WM_DIAGRAM_VIRTUALLY_FRAME" val="{&quot;height&quot;:371.67503937007876,&quot;left&quot;:57.75,&quot;top&quot;:177,&quot;width&quot;:491.05}"/>
</p:tagLst>
</file>

<file path=ppt/tags/tag5.xml><?xml version="1.0" encoding="utf-8"?>
<p:tagLst xmlns:p="http://schemas.openxmlformats.org/presentationml/2006/main">
  <p:tag name="KSO_WM_DIAGRAM_VIRTUALLY_FRAME" val="{&quot;height&quot;:371.67503937007876,&quot;left&quot;:57.75,&quot;top&quot;:177,&quot;width&quot;:491.05}"/>
</p:tagLst>
</file>

<file path=ppt/tags/tag6.xml><?xml version="1.0" encoding="utf-8"?>
<p:tagLst xmlns:p="http://schemas.openxmlformats.org/presentationml/2006/main">
  <p:tag name="KSO_WM_DIAGRAM_VIRTUALLY_FRAME" val="{&quot;height&quot;:371.67503937007876,&quot;left&quot;:57.75,&quot;top&quot;:177,&quot;width&quot;:491.05}"/>
</p:tagLst>
</file>

<file path=ppt/tags/tag7.xml><?xml version="1.0" encoding="utf-8"?>
<p:tagLst xmlns:p="http://schemas.openxmlformats.org/presentationml/2006/main">
  <p:tag name="KSO_WM_DIAGRAM_VIRTUALLY_FRAME" val="{&quot;height&quot;:371.67503937007876,&quot;left&quot;:57.75,&quot;top&quot;:177,&quot;width&quot;:491.05}"/>
</p:tagLst>
</file>

<file path=ppt/tags/tag8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9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10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11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12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13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14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15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16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17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18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19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20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21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22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23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24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25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26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27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28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29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30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31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32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33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34.xml><?xml version="1.0" encoding="utf-8"?>
<p:tagLst xmlns:p="http://schemas.openxmlformats.org/presentationml/2006/main">
  <p:tag name="KSO_WM_DIAGRAM_VIRTUALLY_FRAME" val="{&quot;height&quot;:445.4343307086614,&quot;left&quot;:62.390629921259844,&quot;top&quot;:140.38125984251968,&quot;width&quot;:1027.2187401574804}"/>
</p:tagLst>
</file>

<file path=ppt/tags/tag35.xml><?xml version="1.0" encoding="utf-8"?>
<p:tagLst xmlns:p="http://schemas.openxmlformats.org/presentationml/2006/main">
  <p:tag name="KSO_WM_DIAGRAM_VIRTUALLY_FRAME" val="{&quot;height&quot;:445.4343307086614,&quot;left&quot;:62.390629921259844,&quot;top&quot;:140.38125984251968,&quot;width&quot;:1027.2187401574804}"/>
</p:tagLst>
</file>

<file path=ppt/tags/tag36.xml><?xml version="1.0" encoding="utf-8"?>
<p:tagLst xmlns:p="http://schemas.openxmlformats.org/presentationml/2006/main">
  <p:tag name="KSO_WM_DIAGRAM_VIRTUALLY_FRAME" val="{&quot;height&quot;:445.4343307086614,&quot;left&quot;:62.390629921259844,&quot;top&quot;:140.38125984251968,&quot;width&quot;:1027.2187401574804}"/>
</p:tagLst>
</file>

<file path=ppt/tags/tag37.xml><?xml version="1.0" encoding="utf-8"?>
<p:tagLst xmlns:p="http://schemas.openxmlformats.org/presentationml/2006/main">
  <p:tag name="KSO_WM_DIAGRAM_VIRTUALLY_FRAME" val="{&quot;height&quot;:445.4343307086614,&quot;left&quot;:62.390629921259844,&quot;top&quot;:140.38125984251968,&quot;width&quot;:1027.2187401574804}"/>
</p:tagLst>
</file>

<file path=ppt/tags/tag38.xml><?xml version="1.0" encoding="utf-8"?>
<p:tagLst xmlns:p="http://schemas.openxmlformats.org/presentationml/2006/main">
  <p:tag name="KSO_WM_DIAGRAM_VIRTUALLY_FRAME" val="{&quot;height&quot;:445.4343307086614,&quot;left&quot;:62.390629921259844,&quot;top&quot;:140.38125984251968,&quot;width&quot;:1027.2187401574804}"/>
</p:tagLst>
</file>

<file path=ppt/tags/tag39.xml><?xml version="1.0" encoding="utf-8"?>
<p:tagLst xmlns:p="http://schemas.openxmlformats.org/presentationml/2006/main">
  <p:tag name="KSO_WM_DIAGRAM_VIRTUALLY_FRAME" val="{&quot;height&quot;:445.4343307086614,&quot;left&quot;:62.390629921259844,&quot;top&quot;:140.38125984251968,&quot;width&quot;:1027.2187401574804}"/>
</p:tagLst>
</file>

<file path=ppt/tags/tag40.xml><?xml version="1.0" encoding="utf-8"?>
<p:tagLst xmlns:p="http://schemas.openxmlformats.org/presentationml/2006/main">
  <p:tag name="KSO_WM_DIAGRAM_VIRTUALLY_FRAME" val="{&quot;height&quot;:445.4343307086614,&quot;left&quot;:62.390629921259844,&quot;top&quot;:140.38125984251968,&quot;width&quot;:1027.2187401574804}"/>
</p:tagLst>
</file>

<file path=ppt/tags/tag41.xml><?xml version="1.0" encoding="utf-8"?>
<p:tagLst xmlns:p="http://schemas.openxmlformats.org/presentationml/2006/main">
  <p:tag name="KSO_WM_DIAGRAM_VIRTUALLY_FRAME" val="{&quot;height&quot;:445.4343307086614,&quot;left&quot;:62.390629921259844,&quot;top&quot;:140.38125984251968,&quot;width&quot;:1027.2187401574804}"/>
</p:tagLst>
</file>

<file path=ppt/tags/tag42.xml><?xml version="1.0" encoding="utf-8"?>
<p:tagLst xmlns:p="http://schemas.openxmlformats.org/presentationml/2006/main">
  <p:tag name="KSO_WM_DIAGRAM_VIRTUALLY_FRAME" val="{&quot;height&quot;:445.4343307086614,&quot;left&quot;:62.390629921259844,&quot;top&quot;:140.38125984251968,&quot;width&quot;:1027.2187401574804}"/>
</p:tagLst>
</file>

<file path=ppt/tags/tag43.xml><?xml version="1.0" encoding="utf-8"?>
<p:tagLst xmlns:p="http://schemas.openxmlformats.org/presentationml/2006/main">
  <p:tag name="KSO_WM_DIAGRAM_VIRTUALLY_FRAME" val="{&quot;height&quot;:445.4343307086614,&quot;left&quot;:62.390629921259844,&quot;top&quot;:140.38125984251968,&quot;width&quot;:1027.2187401574804}"/>
</p:tagLst>
</file>

<file path=ppt/tags/tag44.xml><?xml version="1.0" encoding="utf-8"?>
<p:tagLst xmlns:p="http://schemas.openxmlformats.org/presentationml/2006/main">
  <p:tag name="KSO_WM_DIAGRAM_VIRTUALLY_FRAME" val="{&quot;height&quot;:445.4343307086614,&quot;left&quot;:62.390629921259844,&quot;top&quot;:140.38125984251968,&quot;width&quot;:1027.2187401574804}"/>
</p:tagLst>
</file>

<file path=ppt/tags/tag45.xml><?xml version="1.0" encoding="utf-8"?>
<p:tagLst xmlns:p="http://schemas.openxmlformats.org/presentationml/2006/main">
  <p:tag name="KSO_WM_DIAGRAM_VIRTUALLY_FRAME" val="{&quot;height&quot;:445.4343307086614,&quot;left&quot;:62.390629921259844,&quot;top&quot;:140.38125984251968,&quot;width&quot;:1027.2187401574804}"/>
</p:tagLst>
</file>

<file path=ppt/tags/tag46.xml><?xml version="1.0" encoding="utf-8"?>
<p:tagLst xmlns:p="http://schemas.openxmlformats.org/presentationml/2006/main">
  <p:tag name="KSO_WM_DIAGRAM_VIRTUALLY_FRAME" val="{&quot;height&quot;:445.4343307086614,&quot;left&quot;:62.390629921259844,&quot;top&quot;:140.38125984251968,&quot;width&quot;:1027.2187401574804}"/>
</p:tagLst>
</file>

<file path=ppt/tags/tag47.xml><?xml version="1.0" encoding="utf-8"?>
<p:tagLst xmlns:p="http://schemas.openxmlformats.org/presentationml/2006/main">
  <p:tag name="KSO_WM_DIAGRAM_VIRTUALLY_FRAME" val="{&quot;height&quot;:445.4343307086614,&quot;left&quot;:62.390629921259844,&quot;top&quot;:140.38125984251968,&quot;width&quot;:1027.2187401574804}"/>
</p:tagLst>
</file>

<file path=ppt/tags/tag48.xml><?xml version="1.0" encoding="utf-8"?>
<p:tagLst xmlns:p="http://schemas.openxmlformats.org/presentationml/2006/main">
  <p:tag name="KSO_WM_DIAGRAM_VIRTUALLY_FRAME" val="{&quot;height&quot;:445.4343307086614,&quot;left&quot;:62.390629921259844,&quot;top&quot;:140.38125984251968,&quot;width&quot;:1027.2187401574804}"/>
</p:tagLst>
</file>

<file path=ppt/tags/tag49.xml><?xml version="1.0" encoding="utf-8"?>
<p:tagLst xmlns:p="http://schemas.openxmlformats.org/presentationml/2006/main">
  <p:tag name="KSO_WM_DIAGRAM_VIRTUALLY_FRAME" val="{&quot;height&quot;:445.4343307086614,&quot;left&quot;:62.390629921259844,&quot;top&quot;:140.38125984251968,&quot;width&quot;:1027.2187401574804}"/>
</p:tagLst>
</file>

<file path=ppt/tags/tag50.xml><?xml version="1.0" encoding="utf-8"?>
<p:tagLst xmlns:p="http://schemas.openxmlformats.org/presentationml/2006/main">
  <p:tag name="KSO_WM_DIAGRAM_VIRTUALLY_FRAME" val="{&quot;height&quot;:445.4343307086614,&quot;left&quot;:62.390629921259844,&quot;top&quot;:140.38125984251968,&quot;width&quot;:1027.2187401574804}"/>
</p:tagLst>
</file>

<file path=ppt/tags/tag51.xml><?xml version="1.0" encoding="utf-8"?>
<p:tagLst xmlns:p="http://schemas.openxmlformats.org/presentationml/2006/main">
  <p:tag name="KSO_WM_DIAGRAM_VIRTUALLY_FRAME" val="{&quot;height&quot;:445.4343307086614,&quot;left&quot;:62.390629921259844,&quot;top&quot;:140.38125984251968,&quot;width&quot;:1027.2187401574804}"/>
</p:tagLst>
</file>

<file path=ppt/tags/tag52.xml><?xml version="1.0" encoding="utf-8"?>
<p:tagLst xmlns:p="http://schemas.openxmlformats.org/presentationml/2006/main">
  <p:tag name="KSO_WM_DIAGRAM_VIRTUALLY_FRAME" val="{&quot;height&quot;:445.4343307086614,&quot;left&quot;:62.390629921259844,&quot;top&quot;:140.38125984251968,&quot;width&quot;:1027.2187401574804}"/>
</p:tagLst>
</file>

<file path=ppt/tags/tag53.xml><?xml version="1.0" encoding="utf-8"?>
<p:tagLst xmlns:p="http://schemas.openxmlformats.org/presentationml/2006/main">
  <p:tag name="KSO_WM_DIAGRAM_VIRTUALLY_FRAME" val="{&quot;height&quot;:445.4343307086614,&quot;left&quot;:62.390629921259844,&quot;top&quot;:140.38125984251968,&quot;width&quot;:1027.2187401574804}"/>
</p:tagLst>
</file>

<file path=ppt/tags/tag54.xml><?xml version="1.0" encoding="utf-8"?>
<p:tagLst xmlns:p="http://schemas.openxmlformats.org/presentationml/2006/main">
  <p:tag name="KSO_WM_DIAGRAM_VIRTUALLY_FRAME" val="{&quot;height&quot;:445.4343307086614,&quot;left&quot;:62.390629921259844,&quot;top&quot;:140.38125984251968,&quot;width&quot;:1027.2187401574804}"/>
</p:tagLst>
</file>

<file path=ppt/tags/tag55.xml><?xml version="1.0" encoding="utf-8"?>
<p:tagLst xmlns:p="http://schemas.openxmlformats.org/presentationml/2006/main">
  <p:tag name="KSO_WM_DIAGRAM_VIRTUALLY_FRAME" val="{&quot;height&quot;:445.4343307086614,&quot;left&quot;:62.390629921259844,&quot;top&quot;:140.38125984251968,&quot;width&quot;:1027.2187401574804}"/>
</p:tagLst>
</file>

<file path=ppt/tags/tag56.xml><?xml version="1.0" encoding="utf-8"?>
<p:tagLst xmlns:p="http://schemas.openxmlformats.org/presentationml/2006/main">
  <p:tag name="KSO_WM_DIAGRAM_VIRTUALLY_FRAME" val="{&quot;height&quot;:445.4343307086614,&quot;left&quot;:62.390629921259844,&quot;top&quot;:140.38125984251968,&quot;width&quot;:1027.2187401574804}"/>
</p:tagLst>
</file>

<file path=ppt/tags/tag57.xml><?xml version="1.0" encoding="utf-8"?>
<p:tagLst xmlns:p="http://schemas.openxmlformats.org/presentationml/2006/main">
  <p:tag name="KSO_WM_DIAGRAM_VIRTUALLY_FRAME" val="{&quot;height&quot;:445.4343307086614,&quot;left&quot;:62.390629921259844,&quot;top&quot;:140.38125984251968,&quot;width&quot;:1027.2187401574804}"/>
</p:tagLst>
</file>

<file path=ppt/tags/tag58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59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60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61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62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63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64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65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66.xml><?xml version="1.0" encoding="utf-8"?>
<p:tagLst xmlns:p="http://schemas.openxmlformats.org/presentationml/2006/main">
  <p:tag name="KSO_WM_DIAGRAM_VIRTUALLY_FRAME" val="{&quot;height&quot;:366.69377952755906,&quot;left&quot;:90.30937007874016,&quot;top&quot;:214.57496062992126,&quot;width&quot;:971.3718897637794}"/>
</p:tagLst>
</file>

<file path=ppt/tags/tag67.xml><?xml version="1.0" encoding="utf-8"?>
<p:tagLst xmlns:p="http://schemas.openxmlformats.org/presentationml/2006/main">
  <p:tag name="KSO_WM_DIAGRAM_VIRTUALLY_FRAME" val="{&quot;height&quot;:487.14377952755905,&quot;left&quot;:162.03748031496065,&quot;top&quot;:127.40622047244094,&quot;width&quot;:797.6250393700786}"/>
</p:tagLst>
</file>

<file path=ppt/tags/tag68.xml><?xml version="1.0" encoding="utf-8"?>
<p:tagLst xmlns:p="http://schemas.openxmlformats.org/presentationml/2006/main">
  <p:tag name="KSO_WM_DIAGRAM_VIRTUALLY_FRAME" val="{&quot;height&quot;:487.14377952755905,&quot;left&quot;:162.03748031496065,&quot;top&quot;:127.40622047244094,&quot;width&quot;:797.6250393700786}"/>
</p:tagLst>
</file>

<file path=ppt/tags/tag69.xml><?xml version="1.0" encoding="utf-8"?>
<p:tagLst xmlns:p="http://schemas.openxmlformats.org/presentationml/2006/main">
  <p:tag name="KSO_WM_DIAGRAM_VIRTUALLY_FRAME" val="{&quot;height&quot;:487.14377952755905,&quot;left&quot;:162.03748031496065,&quot;top&quot;:127.40622047244094,&quot;width&quot;:797.6250393700786}"/>
</p:tagLst>
</file>

<file path=ppt/tags/tag70.xml><?xml version="1.0" encoding="utf-8"?>
<p:tagLst xmlns:p="http://schemas.openxmlformats.org/presentationml/2006/main">
  <p:tag name="KSO_WM_DIAGRAM_VIRTUALLY_FRAME" val="{&quot;height&quot;:487.14377952755905,&quot;left&quot;:162.03748031496065,&quot;top&quot;:127.40622047244094,&quot;width&quot;:797.6250393700786}"/>
</p:tagLst>
</file>

<file path=ppt/tags/tag71.xml><?xml version="1.0" encoding="utf-8"?>
<p:tagLst xmlns:p="http://schemas.openxmlformats.org/presentationml/2006/main">
  <p:tag name="KSO_WM_DIAGRAM_VIRTUALLY_FRAME" val="{&quot;height&quot;:487.14377952755905,&quot;left&quot;:162.03748031496065,&quot;top&quot;:127.40622047244094,&quot;width&quot;:797.6250393700786}"/>
</p:tagLst>
</file>

<file path=ppt/tags/tag72.xml><?xml version="1.0" encoding="utf-8"?>
<p:tagLst xmlns:p="http://schemas.openxmlformats.org/presentationml/2006/main">
  <p:tag name="KSO_WM_DIAGRAM_VIRTUALLY_FRAME" val="{&quot;height&quot;:487.14377952755905,&quot;left&quot;:162.03748031496065,&quot;top&quot;:127.40622047244094,&quot;width&quot;:797.6250393700786}"/>
</p:tagLst>
</file>

<file path=ppt/tags/tag73.xml><?xml version="1.0" encoding="utf-8"?>
<p:tagLst xmlns:p="http://schemas.openxmlformats.org/presentationml/2006/main">
  <p:tag name="KSO_WM_DIAGRAM_VIRTUALLY_FRAME" val="{&quot;height&quot;:487.14377952755905,&quot;left&quot;:162.03748031496065,&quot;top&quot;:127.40622047244094,&quot;width&quot;:797.6250393700786}"/>
</p:tagLst>
</file>

<file path=ppt/tags/tag74.xml><?xml version="1.0" encoding="utf-8"?>
<p:tagLst xmlns:p="http://schemas.openxmlformats.org/presentationml/2006/main">
  <p:tag name="KSO_WM_DIAGRAM_VIRTUALLY_FRAME" val="{&quot;height&quot;:487.14377952755905,&quot;left&quot;:162.03748031496065,&quot;top&quot;:127.40622047244094,&quot;width&quot;:797.6250393700786}"/>
</p:tagLst>
</file>

<file path=ppt/tags/tag75.xml><?xml version="1.0" encoding="utf-8"?>
<p:tagLst xmlns:p="http://schemas.openxmlformats.org/presentationml/2006/main">
  <p:tag name="KSO_WM_DIAGRAM_VIRTUALLY_FRAME" val="{&quot;height&quot;:487.14377952755905,&quot;left&quot;:162.03748031496065,&quot;top&quot;:127.40622047244094,&quot;width&quot;:797.6250393700786}"/>
</p:tagLst>
</file>

<file path=ppt/tags/tag76.xml><?xml version="1.0" encoding="utf-8"?>
<p:tagLst xmlns:p="http://schemas.openxmlformats.org/presentationml/2006/main">
  <p:tag name="KSO_WM_DIAGRAM_VIRTUALLY_FRAME" val="{&quot;height&quot;:487.14377952755905,&quot;left&quot;:162.03748031496065,&quot;top&quot;:127.40622047244094,&quot;width&quot;:797.6250393700786}"/>
</p:tagLst>
</file>

<file path=ppt/tags/tag77.xml><?xml version="1.0" encoding="utf-8"?>
<p:tagLst xmlns:p="http://schemas.openxmlformats.org/presentationml/2006/main">
  <p:tag name="KSO_WM_DIAGRAM_VIRTUALLY_FRAME" val="{&quot;height&quot;:487.14377952755905,&quot;left&quot;:162.03748031496065,&quot;top&quot;:127.40622047244094,&quot;width&quot;:797.6250393700786}"/>
</p:tagLst>
</file>

<file path=ppt/tags/tag78.xml><?xml version="1.0" encoding="utf-8"?>
<p:tagLst xmlns:p="http://schemas.openxmlformats.org/presentationml/2006/main">
  <p:tag name="KSO_WM_DIAGRAM_VIRTUALLY_FRAME" val="{&quot;height&quot;:487.14377952755905,&quot;left&quot;:162.03748031496065,&quot;top&quot;:127.40622047244094,&quot;width&quot;:797.6250393700786}"/>
</p:tagLst>
</file>

<file path=ppt/tags/tag79.xml><?xml version="1.0" encoding="utf-8"?>
<p:tagLst xmlns:p="http://schemas.openxmlformats.org/presentationml/2006/main">
  <p:tag name="KSO_WM_DIAGRAM_VIRTUALLY_FRAME" val="{&quot;height&quot;:487.14377952755905,&quot;left&quot;:162.03748031496065,&quot;top&quot;:127.40622047244094,&quot;width&quot;:797.6250393700786}"/>
</p:tagLst>
</file>

<file path=ppt/tags/tag80.xml><?xml version="1.0" encoding="utf-8"?>
<p:tagLst xmlns:p="http://schemas.openxmlformats.org/presentationml/2006/main">
  <p:tag name="KSO_WM_DIAGRAM_VIRTUALLY_FRAME" val="{&quot;height&quot;:487.14377952755905,&quot;left&quot;:162.03748031496065,&quot;top&quot;:127.40622047244094,&quot;width&quot;:797.6250393700786}"/>
</p:tagLst>
</file>

<file path=ppt/tags/tag81.xml><?xml version="1.0" encoding="utf-8"?>
<p:tagLst xmlns:p="http://schemas.openxmlformats.org/presentationml/2006/main">
  <p:tag name="KSO_WM_DIAGRAM_VIRTUALLY_FRAME" val="{&quot;height&quot;:487.14377952755905,&quot;left&quot;:162.03748031496065,&quot;top&quot;:127.40622047244094,&quot;width&quot;:797.6250393700786}"/>
</p:tagLst>
</file>

<file path=ppt/tags/tag82.xml><?xml version="1.0" encoding="utf-8"?>
<p:tagLst xmlns:p="http://schemas.openxmlformats.org/presentationml/2006/main">
  <p:tag name="KSO_WM_DIAGRAM_VIRTUALLY_FRAME" val="{&quot;height&quot;:487.14377952755905,&quot;left&quot;:162.03748031496065,&quot;top&quot;:127.40622047244094,&quot;width&quot;:797.6250393700786}"/>
</p:tagLst>
</file>

<file path=ppt/tags/tag83.xml><?xml version="1.0" encoding="utf-8"?>
<p:tagLst xmlns:p="http://schemas.openxmlformats.org/presentationml/2006/main">
  <p:tag name="KSO_WM_DIAGRAM_VIRTUALLY_FRAME" val="{&quot;height&quot;:487.14377952755905,&quot;left&quot;:162.03748031496065,&quot;top&quot;:127.40622047244094,&quot;width&quot;:797.6250393700786}"/>
</p:tagLst>
</file>

<file path=ppt/tags/tag84.xml><?xml version="1.0" encoding="utf-8"?>
<p:tagLst xmlns:p="http://schemas.openxmlformats.org/presentationml/2006/main">
  <p:tag name="KSO_WM_DIAGRAM_VIRTUALLY_FRAME" val="{&quot;height&quot;:487.14377952755905,&quot;left&quot;:162.03748031496065,&quot;top&quot;:127.40622047244094,&quot;width&quot;:797.6250393700786}"/>
</p:tagLst>
</file>

<file path=ppt/tags/tag85.xml><?xml version="1.0" encoding="utf-8"?>
<p:tagLst xmlns:p="http://schemas.openxmlformats.org/presentationml/2006/main">
  <p:tag name="KSO_WM_DIAGRAM_VIRTUALLY_FRAME" val="{&quot;height&quot;:487.14377952755905,&quot;left&quot;:162.03748031496065,&quot;top&quot;:127.40622047244094,&quot;width&quot;:797.6250393700786}"/>
</p:tagLst>
</file>

<file path=ppt/tags/tag86.xml><?xml version="1.0" encoding="utf-8"?>
<p:tagLst xmlns:p="http://schemas.openxmlformats.org/presentationml/2006/main">
  <p:tag name="KSO_WM_DIAGRAM_VIRTUALLY_FRAME" val="{&quot;height&quot;:487.14377952755905,&quot;left&quot;:162.03748031496065,&quot;top&quot;:127.40622047244094,&quot;width&quot;:797.6250393700786}"/>
</p:tagLst>
</file>

<file path=ppt/tags/tag87.xml><?xml version="1.0" encoding="utf-8"?>
<p:tagLst xmlns:p="http://schemas.openxmlformats.org/presentationml/2006/main">
  <p:tag name="KSO_WM_DIAGRAM_VIRTUALLY_FRAME" val="{&quot;height&quot;:487.14377952755905,&quot;left&quot;:162.03748031496065,&quot;top&quot;:127.40622047244094,&quot;width&quot;:797.6250393700786}"/>
</p:tagLst>
</file>

<file path=ppt/tags/tag88.xml><?xml version="1.0" encoding="utf-8"?>
<p:tagLst xmlns:p="http://schemas.openxmlformats.org/presentationml/2006/main">
  <p:tag name="KSO_WM_DIAGRAM_VIRTUALLY_FRAME" val="{&quot;height&quot;:487.14377952755905,&quot;left&quot;:162.03748031496065,&quot;top&quot;:127.40622047244094,&quot;width&quot;:797.6250393700786}"/>
</p:tagLst>
</file>

<file path=ppt/tags/tag89.xml><?xml version="1.0" encoding="utf-8"?>
<p:tagLst xmlns:p="http://schemas.openxmlformats.org/presentationml/2006/main">
  <p:tag name="KSO_WM_DIAGRAM_VIRTUALLY_FRAME" val="{&quot;height&quot;:487.14377952755905,&quot;left&quot;:162.03748031496065,&quot;top&quot;:127.40622047244094,&quot;width&quot;:797.6250393700786}"/>
</p:tagLst>
</file>

<file path=ppt/tags/tag90.xml><?xml version="1.0" encoding="utf-8"?>
<p:tagLst xmlns:p="http://schemas.openxmlformats.org/presentationml/2006/main">
  <p:tag name="KSO_WM_DIAGRAM_VIRTUALLY_FRAME" val="{&quot;height&quot;:487.14377952755905,&quot;left&quot;:162.03748031496065,&quot;top&quot;:127.40622047244094,&quot;width&quot;:797.6250393700786}"/>
</p:tagLst>
</file>

<file path=ppt/tags/tag91.xml><?xml version="1.0" encoding="utf-8"?>
<p:tagLst xmlns:p="http://schemas.openxmlformats.org/presentationml/2006/main">
  <p:tag name="KSO_WM_DIAGRAM_VIRTUALLY_FRAME" val="{&quot;height&quot;:487.14377952755905,&quot;left&quot;:162.03748031496065,&quot;top&quot;:127.40622047244094,&quot;width&quot;:797.6250393700786}"/>
</p:tagLst>
</file>

<file path=ppt/tags/tag92.xml><?xml version="1.0" encoding="utf-8"?>
<p:tagLst xmlns:p="http://schemas.openxmlformats.org/presentationml/2006/main">
  <p:tag name="KSO_WM_DIAGRAM_VIRTUALLY_FRAME" val="{&quot;height&quot;:487.14377952755905,&quot;left&quot;:162.03748031496065,&quot;top&quot;:127.40622047244094,&quot;width&quot;:797.6250393700786}"/>
</p:tagLst>
</file>

<file path=ppt/tags/tag93.xml><?xml version="1.0" encoding="utf-8"?>
<p:tagLst xmlns:p="http://schemas.openxmlformats.org/presentationml/2006/main">
  <p:tag name="KSO_WM_DIAGRAM_VIRTUALLY_FRAME" val="{&quot;height&quot;:487.14377952755905,&quot;left&quot;:162.03748031496065,&quot;top&quot;:127.40622047244094,&quot;width&quot;:797.6250393700786}"/>
</p:tagLst>
</file>

<file path=ppt/tags/tag94.xml><?xml version="1.0" encoding="utf-8"?>
<p:tagLst xmlns:p="http://schemas.openxmlformats.org/presentationml/2006/main">
  <p:tag name="KSO_WM_DIAGRAM_VIRTUALLY_FRAME" val="{&quot;height&quot;:487.14377952755905,&quot;left&quot;:162.03748031496065,&quot;top&quot;:127.40622047244094,&quot;width&quot;:797.6250393700786}"/>
</p:tagLst>
</file>

<file path=ppt/tags/tag95.xml><?xml version="1.0" encoding="utf-8"?>
<p:tagLst xmlns:p="http://schemas.openxmlformats.org/presentationml/2006/main">
  <p:tag name="KSO_WM_DIAGRAM_VIRTUALLY_FRAME" val="{&quot;height&quot;:487.14377952755905,&quot;left&quot;:162.03748031496065,&quot;top&quot;:127.40622047244094,&quot;width&quot;:797.6250393700786}"/>
</p:tagLst>
</file>

<file path=ppt/tags/tag96.xml><?xml version="1.0" encoding="utf-8"?>
<p:tagLst xmlns:p="http://schemas.openxmlformats.org/presentationml/2006/main">
  <p:tag name="KSO_WM_DIAGRAM_VIRTUALLY_FRAME" val="{&quot;height&quot;:487.14377952755905,&quot;left&quot;:162.03748031496065,&quot;top&quot;:127.40622047244094,&quot;width&quot;:797.6250393700786}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4991</Words>
  <Application>WPS Presentation</Application>
  <PresentationFormat>On-screen Show (16:9)</PresentationFormat>
  <Paragraphs>225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0" baseType="lpstr">
      <vt:lpstr>Arial</vt:lpstr>
      <vt:lpstr>SimSun</vt:lpstr>
      <vt:lpstr>Wingdings</vt:lpstr>
      <vt:lpstr>Inter</vt:lpstr>
      <vt:lpstr>Inter</vt:lpstr>
      <vt:lpstr>Inter</vt:lpstr>
      <vt:lpstr>Inter Bold</vt:lpstr>
      <vt:lpstr>AMGDT</vt:lpstr>
      <vt:lpstr>Inter Bold</vt:lpstr>
      <vt:lpstr>Inter Bold</vt:lpstr>
      <vt:lpstr>Inter Light</vt:lpstr>
      <vt:lpstr>Inter Light</vt:lpstr>
      <vt:lpstr>Inter Light</vt:lpstr>
      <vt:lpstr>Calibri</vt:lpstr>
      <vt:lpstr>Microsoft YaHei</vt:lpstr>
      <vt:lpstr>Arial Unicode MS</vt:lpstr>
      <vt:lpstr>MingLiU-ExtB</vt:lpstr>
      <vt:lpstr>Trebuchet MS</vt:lpstr>
      <vt:lpstr>Default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3889_SHUBHRANSHU SATPATHY</cp:lastModifiedBy>
  <cp:revision>3</cp:revision>
  <dcterms:created xsi:type="dcterms:W3CDTF">2026-01-06T16:47:00Z</dcterms:created>
  <dcterms:modified xsi:type="dcterms:W3CDTF">2026-01-06T17:31:31Z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CB2118B68A50460BAE5E3A9C297A9ED5_13</vt:lpwstr>
  </property>
  <property fmtid="{D5CDD505-2E9C-101B-9397-08002B2CF9AE}" pid="3" name="KSOProductBuildVer">
    <vt:lpwstr>1033-12.2.0.23155</vt:lpwstr>
  </property>
</Properties>
</file>